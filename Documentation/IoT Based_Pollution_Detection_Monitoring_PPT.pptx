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0" r:id="rId1"/>
  </p:sldMasterIdLst>
  <p:notesMasterIdLst>
    <p:notesMasterId r:id="rId21"/>
  </p:notesMasterIdLst>
  <p:sldIdLst>
    <p:sldId id="256" r:id="rId2"/>
    <p:sldId id="339" r:id="rId3"/>
    <p:sldId id="258" r:id="rId4"/>
    <p:sldId id="340" r:id="rId5"/>
    <p:sldId id="411" r:id="rId6"/>
    <p:sldId id="353" r:id="rId7"/>
    <p:sldId id="414" r:id="rId8"/>
    <p:sldId id="354" r:id="rId9"/>
    <p:sldId id="413" r:id="rId10"/>
    <p:sldId id="371" r:id="rId11"/>
    <p:sldId id="372" r:id="rId12"/>
    <p:sldId id="265" r:id="rId13"/>
    <p:sldId id="395" r:id="rId14"/>
    <p:sldId id="415" r:id="rId15"/>
    <p:sldId id="416" r:id="rId16"/>
    <p:sldId id="404" r:id="rId17"/>
    <p:sldId id="408" r:id="rId18"/>
    <p:sldId id="417" r:id="rId19"/>
    <p:sldId id="410"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83759D-6C65-411C-8EAB-5D112C11059A}" v="38" dt="2026-03-28T02:49:59.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29" autoAdjust="0"/>
    <p:restoredTop sz="95053" autoAdjust="0"/>
  </p:normalViewPr>
  <p:slideViewPr>
    <p:cSldViewPr snapToGrid="0">
      <p:cViewPr varScale="1">
        <p:scale>
          <a:sx n="82" d="100"/>
          <a:sy n="82" d="100"/>
        </p:scale>
        <p:origin x="72" y="1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jumderarijit03@outlook.com" userId="4fc042a3a4464e52" providerId="LiveId" clId="{6238A39F-A398-4513-980A-42540448430D}"/>
    <pc:docChg chg="custSel addSld modSld">
      <pc:chgData name="majumderarijit03@outlook.com" userId="4fc042a3a4464e52" providerId="LiveId" clId="{6238A39F-A398-4513-980A-42540448430D}" dt="2026-03-28T02:54:29.769" v="60" actId="1076"/>
      <pc:docMkLst>
        <pc:docMk/>
      </pc:docMkLst>
      <pc:sldChg chg="addSp delSp modSp mod">
        <pc:chgData name="majumderarijit03@outlook.com" userId="4fc042a3a4464e52" providerId="LiveId" clId="{6238A39F-A398-4513-980A-42540448430D}" dt="2026-03-28T02:45:41.145" v="18" actId="14100"/>
        <pc:sldMkLst>
          <pc:docMk/>
          <pc:sldMk cId="360928497" sldId="353"/>
        </pc:sldMkLst>
        <pc:spChg chg="mod">
          <ac:chgData name="majumderarijit03@outlook.com" userId="4fc042a3a4464e52" providerId="LiveId" clId="{6238A39F-A398-4513-980A-42540448430D}" dt="2026-03-28T02:43:42.636" v="2" actId="1076"/>
          <ac:spMkLst>
            <pc:docMk/>
            <pc:sldMk cId="360928497" sldId="353"/>
            <ac:spMk id="2" creationId="{BFF761A2-0FC7-4CC5-B765-DE405A7201F7}"/>
          </ac:spMkLst>
        </pc:spChg>
        <pc:spChg chg="add">
          <ac:chgData name="majumderarijit03@outlook.com" userId="4fc042a3a4464e52" providerId="LiveId" clId="{6238A39F-A398-4513-980A-42540448430D}" dt="2026-03-28T02:43:38.507" v="1"/>
          <ac:spMkLst>
            <pc:docMk/>
            <pc:sldMk cId="360928497" sldId="353"/>
            <ac:spMk id="7" creationId="{29D6F683-9C20-11C5-CD0A-AEECC8BDF24D}"/>
          </ac:spMkLst>
        </pc:spChg>
        <pc:spChg chg="add mod">
          <ac:chgData name="majumderarijit03@outlook.com" userId="4fc042a3a4464e52" providerId="LiveId" clId="{6238A39F-A398-4513-980A-42540448430D}" dt="2026-03-28T02:44:47.831" v="11" actId="14100"/>
          <ac:spMkLst>
            <pc:docMk/>
            <pc:sldMk cId="360928497" sldId="353"/>
            <ac:spMk id="8" creationId="{551B2337-F7D7-EDA3-88FE-915ED9B0E351}"/>
          </ac:spMkLst>
        </pc:spChg>
        <pc:spChg chg="add mod">
          <ac:chgData name="majumderarijit03@outlook.com" userId="4fc042a3a4464e52" providerId="LiveId" clId="{6238A39F-A398-4513-980A-42540448430D}" dt="2026-03-28T02:45:20.231" v="15"/>
          <ac:spMkLst>
            <pc:docMk/>
            <pc:sldMk cId="360928497" sldId="353"/>
            <ac:spMk id="9" creationId="{0815136A-807B-A490-0764-193B5D569036}"/>
          </ac:spMkLst>
        </pc:spChg>
        <pc:picChg chg="del">
          <ac:chgData name="majumderarijit03@outlook.com" userId="4fc042a3a4464e52" providerId="LiveId" clId="{6238A39F-A398-4513-980A-42540448430D}" dt="2026-03-28T02:43:37.550" v="0" actId="478"/>
          <ac:picMkLst>
            <pc:docMk/>
            <pc:sldMk cId="360928497" sldId="353"/>
            <ac:picMk id="4" creationId="{DCDD23C8-45FA-4C93-891F-2F0491013A43}"/>
          </ac:picMkLst>
        </pc:picChg>
        <pc:picChg chg="add mod">
          <ac:chgData name="majumderarijit03@outlook.com" userId="4fc042a3a4464e52" providerId="LiveId" clId="{6238A39F-A398-4513-980A-42540448430D}" dt="2026-03-28T02:45:41.145" v="18" actId="14100"/>
          <ac:picMkLst>
            <pc:docMk/>
            <pc:sldMk cId="360928497" sldId="353"/>
            <ac:picMk id="10" creationId="{12212C2A-A922-60E8-525D-4AD91500C06C}"/>
          </ac:picMkLst>
        </pc:picChg>
      </pc:sldChg>
      <pc:sldChg chg="addSp delSp modSp mod">
        <pc:chgData name="majumderarijit03@outlook.com" userId="4fc042a3a4464e52" providerId="LiveId" clId="{6238A39F-A398-4513-980A-42540448430D}" dt="2026-03-28T02:49:07.745" v="26" actId="1076"/>
        <pc:sldMkLst>
          <pc:docMk/>
          <pc:sldMk cId="2590082394" sldId="354"/>
        </pc:sldMkLst>
        <pc:picChg chg="del">
          <ac:chgData name="majumderarijit03@outlook.com" userId="4fc042a3a4464e52" providerId="LiveId" clId="{6238A39F-A398-4513-980A-42540448430D}" dt="2026-03-28T02:47:16.782" v="19" actId="478"/>
          <ac:picMkLst>
            <pc:docMk/>
            <pc:sldMk cId="2590082394" sldId="354"/>
            <ac:picMk id="5" creationId="{2F70F488-B477-43C9-BC32-42D5B9EC1DC7}"/>
          </ac:picMkLst>
        </pc:picChg>
        <pc:picChg chg="add del mod">
          <ac:chgData name="majumderarijit03@outlook.com" userId="4fc042a3a4464e52" providerId="LiveId" clId="{6238A39F-A398-4513-980A-42540448430D}" dt="2026-03-28T02:49:03.617" v="23" actId="478"/>
          <ac:picMkLst>
            <pc:docMk/>
            <pc:sldMk cId="2590082394" sldId="354"/>
            <ac:picMk id="8" creationId="{4AE40DBF-A4D0-0F90-5CF9-0358B23E3753}"/>
          </ac:picMkLst>
        </pc:picChg>
        <pc:picChg chg="add mod">
          <ac:chgData name="majumderarijit03@outlook.com" userId="4fc042a3a4464e52" providerId="LiveId" clId="{6238A39F-A398-4513-980A-42540448430D}" dt="2026-03-28T02:49:07.745" v="26" actId="1076"/>
          <ac:picMkLst>
            <pc:docMk/>
            <pc:sldMk cId="2590082394" sldId="354"/>
            <ac:picMk id="10" creationId="{3D5F958F-11D8-38D2-8729-09237497770C}"/>
          </ac:picMkLst>
        </pc:picChg>
      </pc:sldChg>
      <pc:sldChg chg="addSp delSp modSp mod">
        <pc:chgData name="majumderarijit03@outlook.com" userId="4fc042a3a4464e52" providerId="LiveId" clId="{6238A39F-A398-4513-980A-42540448430D}" dt="2026-03-28T02:49:59.648" v="49"/>
        <pc:sldMkLst>
          <pc:docMk/>
          <pc:sldMk cId="228982808" sldId="372"/>
        </pc:sldMkLst>
        <pc:spChg chg="del mod">
          <ac:chgData name="majumderarijit03@outlook.com" userId="4fc042a3a4464e52" providerId="LiveId" clId="{6238A39F-A398-4513-980A-42540448430D}" dt="2026-03-28T02:49:21.514" v="31"/>
          <ac:spMkLst>
            <pc:docMk/>
            <pc:sldMk cId="228982808" sldId="372"/>
            <ac:spMk id="4" creationId="{A3562BEF-9A2B-4C28-A63A-6704FE2512DF}"/>
          </ac:spMkLst>
        </pc:spChg>
        <pc:spChg chg="add">
          <ac:chgData name="majumderarijit03@outlook.com" userId="4fc042a3a4464e52" providerId="LiveId" clId="{6238A39F-A398-4513-980A-42540448430D}" dt="2026-03-28T02:49:50.616" v="48"/>
          <ac:spMkLst>
            <pc:docMk/>
            <pc:sldMk cId="228982808" sldId="372"/>
            <ac:spMk id="6" creationId="{844CC683-7689-7711-4C54-92892E59F7DA}"/>
          </ac:spMkLst>
        </pc:spChg>
        <pc:spChg chg="del mod">
          <ac:chgData name="majumderarijit03@outlook.com" userId="4fc042a3a4464e52" providerId="LiveId" clId="{6238A39F-A398-4513-980A-42540448430D}" dt="2026-03-28T02:49:49.760" v="47"/>
          <ac:spMkLst>
            <pc:docMk/>
            <pc:sldMk cId="228982808" sldId="372"/>
            <ac:spMk id="11" creationId="{2B153ABC-55DB-4D1B-B3FF-2AE44C4D4700}"/>
          </ac:spMkLst>
        </pc:spChg>
        <pc:picChg chg="add">
          <ac:chgData name="majumderarijit03@outlook.com" userId="4fc042a3a4464e52" providerId="LiveId" clId="{6238A39F-A398-4513-980A-42540448430D}" dt="2026-03-28T02:49:59.648" v="49"/>
          <ac:picMkLst>
            <pc:docMk/>
            <pc:sldMk cId="228982808" sldId="372"/>
            <ac:picMk id="7" creationId="{E42036AE-CD64-E067-5F8B-9203E5882CF2}"/>
          </ac:picMkLst>
        </pc:picChg>
        <pc:picChg chg="del">
          <ac:chgData name="majumderarijit03@outlook.com" userId="4fc042a3a4464e52" providerId="LiveId" clId="{6238A39F-A398-4513-980A-42540448430D}" dt="2026-03-28T02:49:21.512" v="29" actId="478"/>
          <ac:picMkLst>
            <pc:docMk/>
            <pc:sldMk cId="228982808" sldId="372"/>
            <ac:picMk id="10" creationId="{6EBF81DA-03C3-41D8-902C-94198F6758F9}"/>
          </ac:picMkLst>
        </pc:picChg>
      </pc:sldChg>
      <pc:sldChg chg="addSp modSp new mod">
        <pc:chgData name="majumderarijit03@outlook.com" userId="4fc042a3a4464e52" providerId="LiveId" clId="{6238A39F-A398-4513-980A-42540448430D}" dt="2026-03-28T02:54:29.769" v="60" actId="1076"/>
        <pc:sldMkLst>
          <pc:docMk/>
          <pc:sldMk cId="2654331476" sldId="412"/>
        </pc:sldMkLst>
        <pc:spChg chg="mod">
          <ac:chgData name="majumderarijit03@outlook.com" userId="4fc042a3a4464e52" providerId="LiveId" clId="{6238A39F-A398-4513-980A-42540448430D}" dt="2026-03-28T02:53:12.225" v="53" actId="20577"/>
          <ac:spMkLst>
            <pc:docMk/>
            <pc:sldMk cId="2654331476" sldId="412"/>
            <ac:spMk id="2" creationId="{3BAA6831-A060-D1A0-964F-281EA3AE1CB4}"/>
          </ac:spMkLst>
        </pc:spChg>
        <pc:spChg chg="mod">
          <ac:chgData name="majumderarijit03@outlook.com" userId="4fc042a3a4464e52" providerId="LiveId" clId="{6238A39F-A398-4513-980A-42540448430D}" dt="2026-03-28T02:53:14.011" v="54" actId="20577"/>
          <ac:spMkLst>
            <pc:docMk/>
            <pc:sldMk cId="2654331476" sldId="412"/>
            <ac:spMk id="3" creationId="{119E6B88-5661-F38B-0C6C-6BFD48B0CF18}"/>
          </ac:spMkLst>
        </pc:spChg>
        <pc:picChg chg="add mod">
          <ac:chgData name="majumderarijit03@outlook.com" userId="4fc042a3a4464e52" providerId="LiveId" clId="{6238A39F-A398-4513-980A-42540448430D}" dt="2026-03-28T02:54:29.769" v="60" actId="1076"/>
          <ac:picMkLst>
            <pc:docMk/>
            <pc:sldMk cId="2654331476" sldId="412"/>
            <ac:picMk id="6" creationId="{19B021F7-B8AE-D535-614F-C4506E93C99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D2FFE9-D9AD-4586-82BB-3A130790751B}" type="datetimeFigureOut">
              <a:rPr lang="en-IN" smtClean="0"/>
              <a:t>23-06-2026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B239E2-5753-4E55-BA67-9C1326D72217}" type="slidenum">
              <a:rPr lang="en-IN" smtClean="0"/>
              <a:t>‹#›</a:t>
            </a:fld>
            <a:endParaRPr lang="en-IN"/>
          </a:p>
        </p:txBody>
      </p:sp>
    </p:spTree>
    <p:extLst>
      <p:ext uri="{BB962C8B-B14F-4D97-AF65-F5344CB8AC3E}">
        <p14:creationId xmlns:p14="http://schemas.microsoft.com/office/powerpoint/2010/main" val="771310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4B239E2-5753-4E55-BA67-9C1326D72217}" type="slidenum">
              <a:rPr lang="en-IN" smtClean="0"/>
              <a:t>8</a:t>
            </a:fld>
            <a:endParaRPr lang="en-IN"/>
          </a:p>
        </p:txBody>
      </p:sp>
    </p:spTree>
    <p:extLst>
      <p:ext uri="{BB962C8B-B14F-4D97-AF65-F5344CB8AC3E}">
        <p14:creationId xmlns:p14="http://schemas.microsoft.com/office/powerpoint/2010/main" val="2522432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4B239E2-5753-4E55-BA67-9C1326D72217}" type="slidenum">
              <a:rPr lang="en-IN" smtClean="0"/>
              <a:t>10</a:t>
            </a:fld>
            <a:endParaRPr lang="en-IN"/>
          </a:p>
        </p:txBody>
      </p:sp>
    </p:spTree>
    <p:extLst>
      <p:ext uri="{BB962C8B-B14F-4D97-AF65-F5344CB8AC3E}">
        <p14:creationId xmlns:p14="http://schemas.microsoft.com/office/powerpoint/2010/main" val="15548691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4B239E2-5753-4E55-BA67-9C1326D72217}" type="slidenum">
              <a:rPr lang="en-IN" smtClean="0"/>
              <a:t>13</a:t>
            </a:fld>
            <a:endParaRPr lang="en-IN"/>
          </a:p>
        </p:txBody>
      </p:sp>
    </p:spTree>
    <p:extLst>
      <p:ext uri="{BB962C8B-B14F-4D97-AF65-F5344CB8AC3E}">
        <p14:creationId xmlns:p14="http://schemas.microsoft.com/office/powerpoint/2010/main" val="24018450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28-05-2020</a:t>
            </a:r>
            <a:endParaRPr lang="en-IN"/>
          </a:p>
        </p:txBody>
      </p:sp>
      <p:sp>
        <p:nvSpPr>
          <p:cNvPr id="5" name="Footer Placeholder 4"/>
          <p:cNvSpPr>
            <a:spLocks noGrp="1"/>
          </p:cNvSpPr>
          <p:nvPr>
            <p:ph type="ftr" sz="quarter" idx="11"/>
          </p:nvPr>
        </p:nvSpPr>
        <p:spPr/>
        <p:txBody>
          <a:bodyPr/>
          <a:lstStyle/>
          <a:p>
            <a:r>
              <a:rPr lang="en-IN"/>
              <a:t>M.Tech Viva Voice</a:t>
            </a:r>
          </a:p>
        </p:txBody>
      </p:sp>
      <p:sp>
        <p:nvSpPr>
          <p:cNvPr id="6" name="Slide Number Placeholder 5"/>
          <p:cNvSpPr>
            <a:spLocks noGrp="1"/>
          </p:cNvSpPr>
          <p:nvPr>
            <p:ph type="sldNum" sz="quarter" idx="12"/>
          </p:nvPr>
        </p:nvSpPr>
        <p:spPr/>
        <p:txBody>
          <a:bodyPr/>
          <a:lstStyle/>
          <a:p>
            <a:fld id="{ACE2F108-0A8D-40BD-9A9C-464734DAE4AE}" type="slidenum">
              <a:rPr lang="en-IN" smtClean="0"/>
              <a:t>‹#›</a:t>
            </a:fld>
            <a:endParaRPr lang="en-IN"/>
          </a:p>
        </p:txBody>
      </p:sp>
    </p:spTree>
    <p:extLst>
      <p:ext uri="{BB962C8B-B14F-4D97-AF65-F5344CB8AC3E}">
        <p14:creationId xmlns:p14="http://schemas.microsoft.com/office/powerpoint/2010/main" val="2409150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28-05-2020</a:t>
            </a:r>
            <a:endParaRPr lang="en-IN"/>
          </a:p>
        </p:txBody>
      </p:sp>
      <p:sp>
        <p:nvSpPr>
          <p:cNvPr id="5" name="Footer Placeholder 4"/>
          <p:cNvSpPr>
            <a:spLocks noGrp="1"/>
          </p:cNvSpPr>
          <p:nvPr>
            <p:ph type="ftr" sz="quarter" idx="11"/>
          </p:nvPr>
        </p:nvSpPr>
        <p:spPr/>
        <p:txBody>
          <a:bodyPr/>
          <a:lstStyle/>
          <a:p>
            <a:r>
              <a:rPr lang="en-IN"/>
              <a:t>M.Tech Viva Voice</a:t>
            </a:r>
          </a:p>
        </p:txBody>
      </p:sp>
      <p:sp>
        <p:nvSpPr>
          <p:cNvPr id="6" name="Slide Number Placeholder 5"/>
          <p:cNvSpPr>
            <a:spLocks noGrp="1"/>
          </p:cNvSpPr>
          <p:nvPr>
            <p:ph type="sldNum" sz="quarter" idx="12"/>
          </p:nvPr>
        </p:nvSpPr>
        <p:spPr/>
        <p:txBody>
          <a:bodyPr/>
          <a:lstStyle/>
          <a:p>
            <a:fld id="{ACE2F108-0A8D-40BD-9A9C-464734DAE4AE}" type="slidenum">
              <a:rPr lang="en-IN" smtClean="0"/>
              <a:t>‹#›</a:t>
            </a:fld>
            <a:endParaRPr lang="en-IN"/>
          </a:p>
        </p:txBody>
      </p:sp>
    </p:spTree>
    <p:extLst>
      <p:ext uri="{BB962C8B-B14F-4D97-AF65-F5344CB8AC3E}">
        <p14:creationId xmlns:p14="http://schemas.microsoft.com/office/powerpoint/2010/main" val="38310515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28-05-2020</a:t>
            </a:r>
            <a:endParaRPr lang="en-IN"/>
          </a:p>
        </p:txBody>
      </p:sp>
      <p:sp>
        <p:nvSpPr>
          <p:cNvPr id="5" name="Footer Placeholder 4"/>
          <p:cNvSpPr>
            <a:spLocks noGrp="1"/>
          </p:cNvSpPr>
          <p:nvPr>
            <p:ph type="ftr" sz="quarter" idx="11"/>
          </p:nvPr>
        </p:nvSpPr>
        <p:spPr/>
        <p:txBody>
          <a:bodyPr/>
          <a:lstStyle/>
          <a:p>
            <a:r>
              <a:rPr lang="en-IN"/>
              <a:t>M.Tech Viva Voice</a:t>
            </a:r>
          </a:p>
        </p:txBody>
      </p:sp>
      <p:sp>
        <p:nvSpPr>
          <p:cNvPr id="6" name="Slide Number Placeholder 5"/>
          <p:cNvSpPr>
            <a:spLocks noGrp="1"/>
          </p:cNvSpPr>
          <p:nvPr>
            <p:ph type="sldNum" sz="quarter" idx="12"/>
          </p:nvPr>
        </p:nvSpPr>
        <p:spPr/>
        <p:txBody>
          <a:bodyPr/>
          <a:lstStyle/>
          <a:p>
            <a:fld id="{ACE2F108-0A8D-40BD-9A9C-464734DAE4AE}" type="slidenum">
              <a:rPr lang="en-IN" smtClean="0"/>
              <a:t>‹#›</a:t>
            </a:fld>
            <a:endParaRPr lang="en-IN"/>
          </a:p>
        </p:txBody>
      </p:sp>
    </p:spTree>
    <p:extLst>
      <p:ext uri="{BB962C8B-B14F-4D97-AF65-F5344CB8AC3E}">
        <p14:creationId xmlns:p14="http://schemas.microsoft.com/office/powerpoint/2010/main" val="1374046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28-05-2020</a:t>
            </a:r>
            <a:endParaRPr lang="en-IN"/>
          </a:p>
        </p:txBody>
      </p:sp>
      <p:sp>
        <p:nvSpPr>
          <p:cNvPr id="6" name="Footer Placeholder 5"/>
          <p:cNvSpPr>
            <a:spLocks noGrp="1"/>
          </p:cNvSpPr>
          <p:nvPr>
            <p:ph type="ftr" sz="quarter" idx="11"/>
          </p:nvPr>
        </p:nvSpPr>
        <p:spPr/>
        <p:txBody>
          <a:bodyPr/>
          <a:lstStyle/>
          <a:p>
            <a:r>
              <a:rPr lang="en-IN"/>
              <a:t>M.Tech Viva Voice</a:t>
            </a:r>
          </a:p>
        </p:txBody>
      </p:sp>
      <p:sp>
        <p:nvSpPr>
          <p:cNvPr id="7" name="Slide Number Placeholder 6"/>
          <p:cNvSpPr>
            <a:spLocks noGrp="1"/>
          </p:cNvSpPr>
          <p:nvPr>
            <p:ph type="sldNum" sz="quarter" idx="12"/>
          </p:nvPr>
        </p:nvSpPr>
        <p:spPr/>
        <p:txBody>
          <a:bodyPr/>
          <a:lstStyle/>
          <a:p>
            <a:fld id="{ACE2F108-0A8D-40BD-9A9C-464734DAE4AE}" type="slidenum">
              <a:rPr lang="en-IN" smtClean="0"/>
              <a:t>‹#›</a:t>
            </a:fld>
            <a:endParaRPr lang="en-IN"/>
          </a:p>
        </p:txBody>
      </p:sp>
    </p:spTree>
    <p:extLst>
      <p:ext uri="{BB962C8B-B14F-4D97-AF65-F5344CB8AC3E}">
        <p14:creationId xmlns:p14="http://schemas.microsoft.com/office/powerpoint/2010/main" val="1891676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28-05-2020</a:t>
            </a:r>
            <a:endParaRPr lang="en-IN"/>
          </a:p>
        </p:txBody>
      </p:sp>
      <p:sp>
        <p:nvSpPr>
          <p:cNvPr id="8" name="Footer Placeholder 7"/>
          <p:cNvSpPr>
            <a:spLocks noGrp="1"/>
          </p:cNvSpPr>
          <p:nvPr>
            <p:ph type="ftr" sz="quarter" idx="11"/>
          </p:nvPr>
        </p:nvSpPr>
        <p:spPr/>
        <p:txBody>
          <a:bodyPr/>
          <a:lstStyle/>
          <a:p>
            <a:r>
              <a:rPr lang="en-IN"/>
              <a:t>M.Tech Viva Voice</a:t>
            </a:r>
          </a:p>
        </p:txBody>
      </p:sp>
      <p:sp>
        <p:nvSpPr>
          <p:cNvPr id="9" name="Slide Number Placeholder 8"/>
          <p:cNvSpPr>
            <a:spLocks noGrp="1"/>
          </p:cNvSpPr>
          <p:nvPr>
            <p:ph type="sldNum" sz="quarter" idx="12"/>
          </p:nvPr>
        </p:nvSpPr>
        <p:spPr/>
        <p:txBody>
          <a:bodyPr/>
          <a:lstStyle/>
          <a:p>
            <a:fld id="{ACE2F108-0A8D-40BD-9A9C-464734DAE4AE}" type="slidenum">
              <a:rPr lang="en-IN" smtClean="0"/>
              <a:t>‹#›</a:t>
            </a:fld>
            <a:endParaRPr lang="en-IN"/>
          </a:p>
        </p:txBody>
      </p:sp>
    </p:spTree>
    <p:extLst>
      <p:ext uri="{BB962C8B-B14F-4D97-AF65-F5344CB8AC3E}">
        <p14:creationId xmlns:p14="http://schemas.microsoft.com/office/powerpoint/2010/main" val="494713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28-05-2020</a:t>
            </a:r>
            <a:endParaRPr lang="en-IN"/>
          </a:p>
        </p:txBody>
      </p:sp>
      <p:sp>
        <p:nvSpPr>
          <p:cNvPr id="4" name="Footer Placeholder 3"/>
          <p:cNvSpPr>
            <a:spLocks noGrp="1"/>
          </p:cNvSpPr>
          <p:nvPr>
            <p:ph type="ftr" sz="quarter" idx="11"/>
          </p:nvPr>
        </p:nvSpPr>
        <p:spPr/>
        <p:txBody>
          <a:bodyPr/>
          <a:lstStyle/>
          <a:p>
            <a:r>
              <a:rPr lang="en-IN"/>
              <a:t>M.Tech Viva Voice</a:t>
            </a:r>
          </a:p>
        </p:txBody>
      </p:sp>
      <p:sp>
        <p:nvSpPr>
          <p:cNvPr id="5" name="Slide Number Placeholder 4"/>
          <p:cNvSpPr>
            <a:spLocks noGrp="1"/>
          </p:cNvSpPr>
          <p:nvPr>
            <p:ph type="sldNum" sz="quarter" idx="12"/>
          </p:nvPr>
        </p:nvSpPr>
        <p:spPr/>
        <p:txBody>
          <a:bodyPr/>
          <a:lstStyle/>
          <a:p>
            <a:fld id="{ACE2F108-0A8D-40BD-9A9C-464734DAE4AE}" type="slidenum">
              <a:rPr lang="en-IN" smtClean="0"/>
              <a:t>‹#›</a:t>
            </a:fld>
            <a:endParaRPr lang="en-IN"/>
          </a:p>
        </p:txBody>
      </p:sp>
    </p:spTree>
    <p:extLst>
      <p:ext uri="{BB962C8B-B14F-4D97-AF65-F5344CB8AC3E}">
        <p14:creationId xmlns:p14="http://schemas.microsoft.com/office/powerpoint/2010/main" val="8275110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28-05-2020</a:t>
            </a:r>
            <a:endParaRPr lang="en-IN"/>
          </a:p>
        </p:txBody>
      </p:sp>
      <p:sp>
        <p:nvSpPr>
          <p:cNvPr id="3" name="Footer Placeholder 2"/>
          <p:cNvSpPr>
            <a:spLocks noGrp="1"/>
          </p:cNvSpPr>
          <p:nvPr>
            <p:ph type="ftr" sz="quarter" idx="11"/>
          </p:nvPr>
        </p:nvSpPr>
        <p:spPr/>
        <p:txBody>
          <a:bodyPr/>
          <a:lstStyle/>
          <a:p>
            <a:r>
              <a:rPr lang="en-IN"/>
              <a:t>M.Tech Viva Voice</a:t>
            </a:r>
          </a:p>
        </p:txBody>
      </p:sp>
      <p:sp>
        <p:nvSpPr>
          <p:cNvPr id="4" name="Slide Number Placeholder 3"/>
          <p:cNvSpPr>
            <a:spLocks noGrp="1"/>
          </p:cNvSpPr>
          <p:nvPr>
            <p:ph type="sldNum" sz="quarter" idx="12"/>
          </p:nvPr>
        </p:nvSpPr>
        <p:spPr/>
        <p:txBody>
          <a:bodyPr/>
          <a:lstStyle/>
          <a:p>
            <a:fld id="{ACE2F108-0A8D-40BD-9A9C-464734DAE4AE}" type="slidenum">
              <a:rPr lang="en-IN" smtClean="0"/>
              <a:t>‹#›</a:t>
            </a:fld>
            <a:endParaRPr lang="en-IN"/>
          </a:p>
        </p:txBody>
      </p:sp>
    </p:spTree>
    <p:extLst>
      <p:ext uri="{BB962C8B-B14F-4D97-AF65-F5344CB8AC3E}">
        <p14:creationId xmlns:p14="http://schemas.microsoft.com/office/powerpoint/2010/main" val="42799008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28-05-2020</a:t>
            </a:r>
            <a:endParaRPr lang="en-IN"/>
          </a:p>
        </p:txBody>
      </p:sp>
      <p:sp>
        <p:nvSpPr>
          <p:cNvPr id="6" name="Footer Placeholder 5"/>
          <p:cNvSpPr>
            <a:spLocks noGrp="1"/>
          </p:cNvSpPr>
          <p:nvPr>
            <p:ph type="ftr" sz="quarter" idx="11"/>
          </p:nvPr>
        </p:nvSpPr>
        <p:spPr/>
        <p:txBody>
          <a:bodyPr/>
          <a:lstStyle/>
          <a:p>
            <a:r>
              <a:rPr lang="en-IN"/>
              <a:t>M.Tech Viva Voice</a:t>
            </a:r>
          </a:p>
        </p:txBody>
      </p:sp>
      <p:sp>
        <p:nvSpPr>
          <p:cNvPr id="7" name="Slide Number Placeholder 6"/>
          <p:cNvSpPr>
            <a:spLocks noGrp="1"/>
          </p:cNvSpPr>
          <p:nvPr>
            <p:ph type="sldNum" sz="quarter" idx="12"/>
          </p:nvPr>
        </p:nvSpPr>
        <p:spPr/>
        <p:txBody>
          <a:bodyPr/>
          <a:lstStyle/>
          <a:p>
            <a:fld id="{ACE2F108-0A8D-40BD-9A9C-464734DAE4AE}" type="slidenum">
              <a:rPr lang="en-IN" smtClean="0"/>
              <a:t>‹#›</a:t>
            </a:fld>
            <a:endParaRPr lang="en-IN"/>
          </a:p>
        </p:txBody>
      </p:sp>
    </p:spTree>
    <p:extLst>
      <p:ext uri="{BB962C8B-B14F-4D97-AF65-F5344CB8AC3E}">
        <p14:creationId xmlns:p14="http://schemas.microsoft.com/office/powerpoint/2010/main" val="3957596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28-05-2020</a:t>
            </a:r>
            <a:endParaRPr lang="en-IN"/>
          </a:p>
        </p:txBody>
      </p:sp>
      <p:sp>
        <p:nvSpPr>
          <p:cNvPr id="6" name="Footer Placeholder 5"/>
          <p:cNvSpPr>
            <a:spLocks noGrp="1"/>
          </p:cNvSpPr>
          <p:nvPr>
            <p:ph type="ftr" sz="quarter" idx="11"/>
          </p:nvPr>
        </p:nvSpPr>
        <p:spPr/>
        <p:txBody>
          <a:bodyPr/>
          <a:lstStyle/>
          <a:p>
            <a:r>
              <a:rPr lang="en-IN"/>
              <a:t>M.Tech Viva Voice</a:t>
            </a:r>
          </a:p>
        </p:txBody>
      </p:sp>
      <p:sp>
        <p:nvSpPr>
          <p:cNvPr id="7" name="Slide Number Placeholder 6"/>
          <p:cNvSpPr>
            <a:spLocks noGrp="1"/>
          </p:cNvSpPr>
          <p:nvPr>
            <p:ph type="sldNum" sz="quarter" idx="12"/>
          </p:nvPr>
        </p:nvSpPr>
        <p:spPr/>
        <p:txBody>
          <a:bodyPr/>
          <a:lstStyle/>
          <a:p>
            <a:fld id="{ACE2F108-0A8D-40BD-9A9C-464734DAE4AE}" type="slidenum">
              <a:rPr lang="en-IN" smtClean="0"/>
              <a:t>‹#›</a:t>
            </a:fld>
            <a:endParaRPr lang="en-IN"/>
          </a:p>
        </p:txBody>
      </p:sp>
    </p:spTree>
    <p:extLst>
      <p:ext uri="{BB962C8B-B14F-4D97-AF65-F5344CB8AC3E}">
        <p14:creationId xmlns:p14="http://schemas.microsoft.com/office/powerpoint/2010/main" val="27624740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28-05-2020</a:t>
            </a:r>
            <a:endParaRPr lang="en-IN"/>
          </a:p>
        </p:txBody>
      </p:sp>
      <p:sp>
        <p:nvSpPr>
          <p:cNvPr id="5" name="Footer Placeholder 4"/>
          <p:cNvSpPr>
            <a:spLocks noGrp="1"/>
          </p:cNvSpPr>
          <p:nvPr>
            <p:ph type="ftr" sz="quarter" idx="11"/>
          </p:nvPr>
        </p:nvSpPr>
        <p:spPr/>
        <p:txBody>
          <a:bodyPr/>
          <a:lstStyle/>
          <a:p>
            <a:r>
              <a:rPr lang="en-IN"/>
              <a:t>M.Tech Viva Voice</a:t>
            </a:r>
          </a:p>
        </p:txBody>
      </p:sp>
      <p:sp>
        <p:nvSpPr>
          <p:cNvPr id="6" name="Slide Number Placeholder 5"/>
          <p:cNvSpPr>
            <a:spLocks noGrp="1"/>
          </p:cNvSpPr>
          <p:nvPr>
            <p:ph type="sldNum" sz="quarter" idx="12"/>
          </p:nvPr>
        </p:nvSpPr>
        <p:spPr/>
        <p:txBody>
          <a:bodyPr/>
          <a:lstStyle/>
          <a:p>
            <a:fld id="{ACE2F108-0A8D-40BD-9A9C-464734DAE4AE}" type="slidenum">
              <a:rPr lang="en-IN" smtClean="0"/>
              <a:t>‹#›</a:t>
            </a:fld>
            <a:endParaRPr lang="en-IN"/>
          </a:p>
        </p:txBody>
      </p:sp>
    </p:spTree>
    <p:extLst>
      <p:ext uri="{BB962C8B-B14F-4D97-AF65-F5344CB8AC3E}">
        <p14:creationId xmlns:p14="http://schemas.microsoft.com/office/powerpoint/2010/main" val="691262223"/>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28-05-2020</a:t>
            </a:r>
            <a:endParaRPr lang="en-IN"/>
          </a:p>
        </p:txBody>
      </p:sp>
      <p:sp>
        <p:nvSpPr>
          <p:cNvPr id="5" name="Footer Placeholder 4"/>
          <p:cNvSpPr>
            <a:spLocks noGrp="1"/>
          </p:cNvSpPr>
          <p:nvPr>
            <p:ph type="ftr" sz="quarter" idx="11"/>
          </p:nvPr>
        </p:nvSpPr>
        <p:spPr/>
        <p:txBody>
          <a:bodyPr/>
          <a:lstStyle/>
          <a:p>
            <a:r>
              <a:rPr lang="en-IN"/>
              <a:t>M.Tech Viva Voice</a:t>
            </a:r>
          </a:p>
        </p:txBody>
      </p:sp>
      <p:sp>
        <p:nvSpPr>
          <p:cNvPr id="6" name="Slide Number Placeholder 5"/>
          <p:cNvSpPr>
            <a:spLocks noGrp="1"/>
          </p:cNvSpPr>
          <p:nvPr>
            <p:ph type="sldNum" sz="quarter" idx="12"/>
          </p:nvPr>
        </p:nvSpPr>
        <p:spPr/>
        <p:txBody>
          <a:bodyPr/>
          <a:lstStyle/>
          <a:p>
            <a:fld id="{ACE2F108-0A8D-40BD-9A9C-464734DAE4AE}"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556800095"/>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28-05-2020</a:t>
            </a:r>
            <a:endParaRPr lang="en-IN"/>
          </a:p>
        </p:txBody>
      </p:sp>
      <p:sp>
        <p:nvSpPr>
          <p:cNvPr id="5" name="Footer Placeholder 4"/>
          <p:cNvSpPr>
            <a:spLocks noGrp="1"/>
          </p:cNvSpPr>
          <p:nvPr>
            <p:ph type="ftr" sz="quarter" idx="11"/>
          </p:nvPr>
        </p:nvSpPr>
        <p:spPr/>
        <p:txBody>
          <a:bodyPr/>
          <a:lstStyle/>
          <a:p>
            <a:r>
              <a:rPr lang="en-IN"/>
              <a:t>M.Tech Viva Voice</a:t>
            </a:r>
          </a:p>
        </p:txBody>
      </p:sp>
      <p:sp>
        <p:nvSpPr>
          <p:cNvPr id="6" name="Slide Number Placeholder 5"/>
          <p:cNvSpPr>
            <a:spLocks noGrp="1"/>
          </p:cNvSpPr>
          <p:nvPr>
            <p:ph type="sldNum" sz="quarter" idx="12"/>
          </p:nvPr>
        </p:nvSpPr>
        <p:spPr/>
        <p:txBody>
          <a:bodyPr/>
          <a:lstStyle/>
          <a:p>
            <a:fld id="{ACE2F108-0A8D-40BD-9A9C-464734DAE4AE}" type="slidenum">
              <a:rPr lang="en-IN" smtClean="0"/>
              <a:t>‹#›</a:t>
            </a:fld>
            <a:endParaRPr lang="en-IN"/>
          </a:p>
        </p:txBody>
      </p:sp>
    </p:spTree>
    <p:extLst>
      <p:ext uri="{BB962C8B-B14F-4D97-AF65-F5344CB8AC3E}">
        <p14:creationId xmlns:p14="http://schemas.microsoft.com/office/powerpoint/2010/main" val="309069782"/>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28-05-2020</a:t>
            </a:r>
            <a:endParaRPr lang="en-IN"/>
          </a:p>
        </p:txBody>
      </p:sp>
      <p:sp>
        <p:nvSpPr>
          <p:cNvPr id="5" name="Footer Placeholder 4"/>
          <p:cNvSpPr>
            <a:spLocks noGrp="1"/>
          </p:cNvSpPr>
          <p:nvPr>
            <p:ph type="ftr" sz="quarter" idx="11"/>
          </p:nvPr>
        </p:nvSpPr>
        <p:spPr/>
        <p:txBody>
          <a:bodyPr/>
          <a:lstStyle/>
          <a:p>
            <a:r>
              <a:rPr lang="en-IN"/>
              <a:t>M.Tech Viva Voice</a:t>
            </a:r>
          </a:p>
        </p:txBody>
      </p:sp>
      <p:sp>
        <p:nvSpPr>
          <p:cNvPr id="6" name="Slide Number Placeholder 5"/>
          <p:cNvSpPr>
            <a:spLocks noGrp="1"/>
          </p:cNvSpPr>
          <p:nvPr>
            <p:ph type="sldNum" sz="quarter" idx="12"/>
          </p:nvPr>
        </p:nvSpPr>
        <p:spPr/>
        <p:txBody>
          <a:bodyPr/>
          <a:lstStyle/>
          <a:p>
            <a:fld id="{ACE2F108-0A8D-40BD-9A9C-464734DAE4AE}"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004896093"/>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28-05-2020</a:t>
            </a:r>
            <a:endParaRPr lang="en-IN"/>
          </a:p>
        </p:txBody>
      </p:sp>
      <p:sp>
        <p:nvSpPr>
          <p:cNvPr id="5" name="Footer Placeholder 4"/>
          <p:cNvSpPr>
            <a:spLocks noGrp="1"/>
          </p:cNvSpPr>
          <p:nvPr>
            <p:ph type="ftr" sz="quarter" idx="11"/>
          </p:nvPr>
        </p:nvSpPr>
        <p:spPr/>
        <p:txBody>
          <a:bodyPr/>
          <a:lstStyle/>
          <a:p>
            <a:r>
              <a:rPr lang="en-IN"/>
              <a:t>M.Tech Viva Voice</a:t>
            </a:r>
          </a:p>
        </p:txBody>
      </p:sp>
      <p:sp>
        <p:nvSpPr>
          <p:cNvPr id="6" name="Slide Number Placeholder 5"/>
          <p:cNvSpPr>
            <a:spLocks noGrp="1"/>
          </p:cNvSpPr>
          <p:nvPr>
            <p:ph type="sldNum" sz="quarter" idx="12"/>
          </p:nvPr>
        </p:nvSpPr>
        <p:spPr/>
        <p:txBody>
          <a:bodyPr/>
          <a:lstStyle/>
          <a:p>
            <a:fld id="{ACE2F108-0A8D-40BD-9A9C-464734DAE4AE}" type="slidenum">
              <a:rPr lang="en-IN" smtClean="0"/>
              <a:t>‹#›</a:t>
            </a:fld>
            <a:endParaRPr lang="en-IN"/>
          </a:p>
        </p:txBody>
      </p:sp>
    </p:spTree>
    <p:extLst>
      <p:ext uri="{BB962C8B-B14F-4D97-AF65-F5344CB8AC3E}">
        <p14:creationId xmlns:p14="http://schemas.microsoft.com/office/powerpoint/2010/main" val="824366566"/>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28-05-2020</a:t>
            </a:r>
            <a:endParaRPr lang="en-IN"/>
          </a:p>
        </p:txBody>
      </p:sp>
      <p:sp>
        <p:nvSpPr>
          <p:cNvPr id="5" name="Footer Placeholder 4"/>
          <p:cNvSpPr>
            <a:spLocks noGrp="1"/>
          </p:cNvSpPr>
          <p:nvPr>
            <p:ph type="ftr" sz="quarter" idx="11"/>
          </p:nvPr>
        </p:nvSpPr>
        <p:spPr/>
        <p:txBody>
          <a:bodyPr/>
          <a:lstStyle/>
          <a:p>
            <a:r>
              <a:rPr lang="en-IN"/>
              <a:t>M.Tech Viva Voice</a:t>
            </a:r>
          </a:p>
        </p:txBody>
      </p:sp>
      <p:sp>
        <p:nvSpPr>
          <p:cNvPr id="6" name="Slide Number Placeholder 5"/>
          <p:cNvSpPr>
            <a:spLocks noGrp="1"/>
          </p:cNvSpPr>
          <p:nvPr>
            <p:ph type="sldNum" sz="quarter" idx="12"/>
          </p:nvPr>
        </p:nvSpPr>
        <p:spPr/>
        <p:txBody>
          <a:bodyPr/>
          <a:lstStyle/>
          <a:p>
            <a:fld id="{ACE2F108-0A8D-40BD-9A9C-464734DAE4AE}" type="slidenum">
              <a:rPr lang="en-IN" smtClean="0"/>
              <a:t>‹#›</a:t>
            </a:fld>
            <a:endParaRPr lang="en-IN"/>
          </a:p>
        </p:txBody>
      </p:sp>
    </p:spTree>
    <p:extLst>
      <p:ext uri="{BB962C8B-B14F-4D97-AF65-F5344CB8AC3E}">
        <p14:creationId xmlns:p14="http://schemas.microsoft.com/office/powerpoint/2010/main" val="33511485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28-05-2020</a:t>
            </a:r>
            <a:endParaRPr lang="en-IN"/>
          </a:p>
        </p:txBody>
      </p:sp>
      <p:sp>
        <p:nvSpPr>
          <p:cNvPr id="5" name="Footer Placeholder 4"/>
          <p:cNvSpPr>
            <a:spLocks noGrp="1"/>
          </p:cNvSpPr>
          <p:nvPr>
            <p:ph type="ftr" sz="quarter" idx="11"/>
          </p:nvPr>
        </p:nvSpPr>
        <p:spPr/>
        <p:txBody>
          <a:bodyPr/>
          <a:lstStyle/>
          <a:p>
            <a:r>
              <a:rPr lang="en-IN"/>
              <a:t>M.Tech Viva Voice</a:t>
            </a:r>
          </a:p>
        </p:txBody>
      </p:sp>
      <p:sp>
        <p:nvSpPr>
          <p:cNvPr id="6" name="Slide Number Placeholder 5"/>
          <p:cNvSpPr>
            <a:spLocks noGrp="1"/>
          </p:cNvSpPr>
          <p:nvPr>
            <p:ph type="sldNum" sz="quarter" idx="12"/>
          </p:nvPr>
        </p:nvSpPr>
        <p:spPr/>
        <p:txBody>
          <a:bodyPr/>
          <a:lstStyle/>
          <a:p>
            <a:fld id="{ACE2F108-0A8D-40BD-9A9C-464734DAE4AE}" type="slidenum">
              <a:rPr lang="en-IN" smtClean="0"/>
              <a:t>‹#›</a:t>
            </a:fld>
            <a:endParaRPr lang="en-IN"/>
          </a:p>
        </p:txBody>
      </p:sp>
    </p:spTree>
    <p:extLst>
      <p:ext uri="{BB962C8B-B14F-4D97-AF65-F5344CB8AC3E}">
        <p14:creationId xmlns:p14="http://schemas.microsoft.com/office/powerpoint/2010/main" val="28701853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US"/>
              <a:t>28-05-2020</a:t>
            </a:r>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IN"/>
              <a:t>M.Tech Viva Voice</a:t>
            </a: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ACE2F108-0A8D-40BD-9A9C-464734DAE4AE}" type="slidenum">
              <a:rPr lang="en-IN" smtClean="0"/>
              <a:t>‹#›</a:t>
            </a:fld>
            <a:endParaRPr lang="en-IN"/>
          </a:p>
        </p:txBody>
      </p:sp>
    </p:spTree>
    <p:extLst>
      <p:ext uri="{BB962C8B-B14F-4D97-AF65-F5344CB8AC3E}">
        <p14:creationId xmlns:p14="http://schemas.microsoft.com/office/powerpoint/2010/main" val="3976042097"/>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Lst>
  <p:hf hdr="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19085A6-31C1-43A5-9C93-CD2236D2160E}"/>
              </a:ext>
            </a:extLst>
          </p:cNvPr>
          <p:cNvSpPr>
            <a:spLocks noGrp="1"/>
          </p:cNvSpPr>
          <p:nvPr>
            <p:ph type="ctrTitle"/>
          </p:nvPr>
        </p:nvSpPr>
        <p:spPr>
          <a:xfrm>
            <a:off x="768159" y="1742302"/>
            <a:ext cx="10186737" cy="2739292"/>
          </a:xfrm>
        </p:spPr>
        <p:txBody>
          <a:bodyPr>
            <a:noAutofit/>
          </a:bodyPr>
          <a:lstStyle/>
          <a:p>
            <a:pPr algn="ctr"/>
            <a:r>
              <a:rPr lang="en-IN" sz="3600" dirty="0">
                <a:latin typeface="Times New Roman" panose="02020603050405020304" pitchFamily="18" charset="0"/>
                <a:cs typeface="Times New Roman" panose="02020603050405020304" pitchFamily="18" charset="0"/>
              </a:rPr>
              <a:t/>
            </a:r>
            <a:br>
              <a:rPr lang="en-IN" sz="36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
            </a:r>
            <a:br>
              <a:rPr lang="en-US" sz="3200" b="1" dirty="0">
                <a:latin typeface="Times New Roman" panose="02020603050405020304" pitchFamily="18" charset="0"/>
                <a:cs typeface="Times New Roman" panose="02020603050405020304" pitchFamily="18" charset="0"/>
              </a:rPr>
            </a:br>
            <a:r>
              <a:rPr lang="en-US" sz="3200" b="1" dirty="0" err="1" smtClean="0">
                <a:latin typeface="Times New Roman" panose="02020603050405020304" pitchFamily="18" charset="0"/>
                <a:cs typeface="Times New Roman" panose="02020603050405020304" pitchFamily="18" charset="0"/>
              </a:rPr>
              <a:t>IoT</a:t>
            </a:r>
            <a:r>
              <a:rPr lang="en-US" sz="3200" b="1" dirty="0" smtClean="0">
                <a:latin typeface="Times New Roman" panose="02020603050405020304" pitchFamily="18" charset="0"/>
                <a:cs typeface="Times New Roman" panose="02020603050405020304" pitchFamily="18" charset="0"/>
              </a:rPr>
              <a:t>-Based </a:t>
            </a:r>
            <a:r>
              <a:rPr lang="en-US" sz="3200" b="1" dirty="0">
                <a:latin typeface="Times New Roman" panose="02020603050405020304" pitchFamily="18" charset="0"/>
                <a:cs typeface="Times New Roman" panose="02020603050405020304" pitchFamily="18" charset="0"/>
              </a:rPr>
              <a:t>Air Pollution Monitoring System for Real-Time Environmental Surveillance</a:t>
            </a:r>
            <a:endParaRPr lang="en-IN" sz="32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 xmlns:a16="http://schemas.microsoft.com/office/drawing/2014/main" id="{CEE77A1E-0524-4FD1-8CBB-6017DA7B1D80}"/>
              </a:ext>
            </a:extLst>
          </p:cNvPr>
          <p:cNvSpPr txBox="1"/>
          <p:nvPr/>
        </p:nvSpPr>
        <p:spPr>
          <a:xfrm>
            <a:off x="861149" y="5331275"/>
            <a:ext cx="5923564" cy="707886"/>
          </a:xfrm>
          <a:prstGeom prst="rect">
            <a:avLst/>
          </a:prstGeom>
          <a:noFill/>
        </p:spPr>
        <p:txBody>
          <a:bodyPr wrap="square" rtlCol="0">
            <a:spAutoFit/>
          </a:bodyPr>
          <a:lstStyle/>
          <a:p>
            <a:r>
              <a:rPr lang="en-IN" sz="2000" b="1" dirty="0" smtClean="0">
                <a:latin typeface="Times New Roman" panose="02020603050405020304" pitchFamily="18" charset="0"/>
                <a:cs typeface="Times New Roman" panose="02020603050405020304" pitchFamily="18" charset="0"/>
              </a:rPr>
              <a:t>NAME: DIYA AGGARWAL</a:t>
            </a:r>
          </a:p>
          <a:p>
            <a:r>
              <a:rPr lang="en-IN" sz="2000" b="1" dirty="0" smtClean="0">
                <a:latin typeface="Times New Roman" panose="02020603050405020304" pitchFamily="18" charset="0"/>
                <a:cs typeface="Times New Roman" panose="02020603050405020304" pitchFamily="18" charset="0"/>
              </a:rPr>
              <a:t>EMAIL: diyaaggarwal1809@gmail.com</a:t>
            </a:r>
            <a:endParaRPr lang="en-IN" sz="2000" b="1" dirty="0" smtClean="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 xmlns:a16="http://schemas.microsoft.com/office/drawing/2014/main" id="{56522D7F-5C02-491E-A64D-222BB71665FA}"/>
              </a:ext>
            </a:extLst>
          </p:cNvPr>
          <p:cNvPicPr>
            <a:picLocks noChangeAspect="1"/>
          </p:cNvPicPr>
          <p:nvPr/>
        </p:nvPicPr>
        <p:blipFill rotWithShape="1">
          <a:blip r:embed="rId2">
            <a:extLst>
              <a:ext uri="{28A0092B-C50C-407E-A947-70E740481C1C}">
                <a14:useLocalDpi xmlns:a14="http://schemas.microsoft.com/office/drawing/2010/main" val="0"/>
              </a:ext>
            </a:extLst>
          </a:blip>
          <a:srcRect r="10298"/>
          <a:stretch/>
        </p:blipFill>
        <p:spPr>
          <a:xfrm>
            <a:off x="3720693" y="-26377"/>
            <a:ext cx="5015534" cy="1768679"/>
          </a:xfrm>
          <a:prstGeom prst="rect">
            <a:avLst/>
          </a:prstGeom>
        </p:spPr>
      </p:pic>
    </p:spTree>
    <p:extLst>
      <p:ext uri="{BB962C8B-B14F-4D97-AF65-F5344CB8AC3E}">
        <p14:creationId xmlns:p14="http://schemas.microsoft.com/office/powerpoint/2010/main" val="23249300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 xmlns:a16="http://schemas.microsoft.com/office/drawing/2014/main" id="{E489D721-60C3-4E55-95F4-9C2FA91610B3}"/>
              </a:ext>
            </a:extLst>
          </p:cNvPr>
          <p:cNvSpPr>
            <a:spLocks noGrp="1"/>
          </p:cNvSpPr>
          <p:nvPr>
            <p:ph type="ftr" sz="quarter" idx="11"/>
          </p:nvPr>
        </p:nvSpPr>
        <p:spPr/>
        <p:txBody>
          <a:bodyPr/>
          <a:lstStyle/>
          <a:p>
            <a:r>
              <a:rPr lang="en-US" dirty="0"/>
              <a:t> </a:t>
            </a:r>
            <a:endParaRPr lang="en-IN" dirty="0"/>
          </a:p>
        </p:txBody>
      </p:sp>
      <p:sp>
        <p:nvSpPr>
          <p:cNvPr id="2" name="Slide Number Placeholder 1">
            <a:extLst>
              <a:ext uri="{FF2B5EF4-FFF2-40B4-BE49-F238E27FC236}">
                <a16:creationId xmlns="" xmlns:a16="http://schemas.microsoft.com/office/drawing/2014/main" id="{AE3C0EE9-46A5-4FF9-B520-FC605F392439}"/>
              </a:ext>
            </a:extLst>
          </p:cNvPr>
          <p:cNvSpPr>
            <a:spLocks noGrp="1"/>
          </p:cNvSpPr>
          <p:nvPr>
            <p:ph type="sldNum" sz="quarter" idx="12"/>
          </p:nvPr>
        </p:nvSpPr>
        <p:spPr/>
        <p:txBody>
          <a:bodyPr/>
          <a:lstStyle/>
          <a:p>
            <a:fld id="{ACE2F108-0A8D-40BD-9A9C-464734DAE4AE}" type="slidenum">
              <a:rPr lang="en-IN" smtClean="0"/>
              <a:t>2</a:t>
            </a:fld>
            <a:endParaRPr lang="en-IN"/>
          </a:p>
        </p:txBody>
      </p:sp>
      <p:sp>
        <p:nvSpPr>
          <p:cNvPr id="4" name="Rectangle 3">
            <a:extLst>
              <a:ext uri="{FF2B5EF4-FFF2-40B4-BE49-F238E27FC236}">
                <a16:creationId xmlns="" xmlns:a16="http://schemas.microsoft.com/office/drawing/2014/main" id="{E35C0599-4CE4-46DC-B9FA-67AC6A7629A0}"/>
              </a:ext>
            </a:extLst>
          </p:cNvPr>
          <p:cNvSpPr/>
          <p:nvPr/>
        </p:nvSpPr>
        <p:spPr>
          <a:xfrm>
            <a:off x="444617" y="327171"/>
            <a:ext cx="11526473" cy="5189113"/>
          </a:xfrm>
          <a:prstGeom prst="rect">
            <a:avLst/>
          </a:prstGeom>
        </p:spPr>
        <p:txBody>
          <a:bodyPr wrap="square">
            <a:spAutoFit/>
          </a:bodyPr>
          <a:lstStyle/>
          <a:p>
            <a:pPr algn="just">
              <a:lnSpc>
                <a:spcPct val="150000"/>
              </a:lnSpc>
            </a:pPr>
            <a:r>
              <a:rPr lang="en-GB" sz="3200" b="1" spc="-1" dirty="0" smtClean="0">
                <a:latin typeface="Times New Roman" panose="02020603050405020304" pitchFamily="18" charset="0"/>
                <a:ea typeface="Times New Roman"/>
                <a:cs typeface="Times New Roman" panose="02020603050405020304" pitchFamily="18" charset="0"/>
              </a:rPr>
              <a:t>Introduction</a:t>
            </a:r>
          </a:p>
          <a:p>
            <a:pPr marL="342900" indent="-342900" algn="just">
              <a:lnSpc>
                <a:spcPct val="150000"/>
              </a:lnSpc>
              <a:buFont typeface="Arial" panose="020B0604020202020204" pitchFamily="34" charset="0"/>
              <a:buChar char="•"/>
            </a:pPr>
            <a:r>
              <a:rPr lang="en-IN" sz="2000" dirty="0" smtClean="0">
                <a:latin typeface="Times New Roman" panose="02020603050405020304" pitchFamily="18" charset="0"/>
                <a:cs typeface="Times New Roman" panose="02020603050405020304" pitchFamily="18" charset="0"/>
              </a:rPr>
              <a:t>Weather </a:t>
            </a:r>
            <a:r>
              <a:rPr lang="en-IN" sz="2000" dirty="0">
                <a:latin typeface="Times New Roman" panose="02020603050405020304" pitchFamily="18" charset="0"/>
                <a:cs typeface="Times New Roman" panose="02020603050405020304" pitchFamily="18" charset="0"/>
              </a:rPr>
              <a:t>monitoring and Controlling Air Quality Index(AQI) are vital for keeping our air clean and people healthy.</a:t>
            </a:r>
          </a:p>
          <a:p>
            <a:pPr marL="34290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AQI monitoring checks for pollutants like ozone, carbon dioxide, carbon monoxide in the air we breathe.</a:t>
            </a:r>
          </a:p>
          <a:p>
            <a:pPr marL="34290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By tracking weather and AQI, we can take steps to reduce pollution and keep our air safe for everyone.</a:t>
            </a:r>
          </a:p>
          <a:p>
            <a:pPr marL="34290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Weather monitoring helps us understand what’s happening in the atmosphere like Temperature, wind, and Humidity.</a:t>
            </a:r>
          </a:p>
          <a:p>
            <a:pPr marL="34290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This introduction emphasizes the importance of watching the weather the weather and controlling AQI to protect our health and environment.</a:t>
            </a:r>
            <a:endParaRPr lang="en-IN" sz="2000" dirty="0">
              <a:latin typeface="Times New Roman" panose="02020603050405020304" pitchFamily="18" charset="0"/>
              <a:ea typeface="Times New Roman" panose="02020603050405020304" pitchFamily="18" charset="0"/>
            </a:endParaRPr>
          </a:p>
          <a:p>
            <a:pPr algn="just">
              <a:lnSpc>
                <a:spcPct val="135000"/>
              </a:lnSpc>
              <a:spcAft>
                <a:spcPts val="1036"/>
              </a:spcAft>
              <a:buClr>
                <a:srgbClr val="000000"/>
              </a:buClr>
              <a:buSzPct val="45000"/>
            </a:pPr>
            <a:endParaRPr lang="en-GB" sz="3200" spc="-1" dirty="0">
              <a:latin typeface="Times New Roman" panose="02020603050405020304" pitchFamily="18" charset="0"/>
              <a:ea typeface="Times New Roman"/>
              <a:cs typeface="Times New Roman" panose="02020603050405020304" pitchFamily="18" charset="0"/>
            </a:endParaRPr>
          </a:p>
        </p:txBody>
      </p:sp>
    </p:spTree>
    <p:extLst>
      <p:ext uri="{BB962C8B-B14F-4D97-AF65-F5344CB8AC3E}">
        <p14:creationId xmlns:p14="http://schemas.microsoft.com/office/powerpoint/2010/main" val="1164841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ABA5263F-EECD-4E82-8ECE-93E3AAACFEE5}"/>
              </a:ext>
            </a:extLst>
          </p:cNvPr>
          <p:cNvSpPr txBox="1"/>
          <p:nvPr/>
        </p:nvSpPr>
        <p:spPr>
          <a:xfrm>
            <a:off x="449182" y="320841"/>
            <a:ext cx="11312183" cy="6309420"/>
          </a:xfrm>
          <a:prstGeom prst="rect">
            <a:avLst/>
          </a:prstGeom>
          <a:noFill/>
        </p:spPr>
        <p:txBody>
          <a:bodyPr wrap="square" rtlCol="0">
            <a:spAutoFit/>
          </a:bodyPr>
          <a:lstStyle/>
          <a:p>
            <a:r>
              <a:rPr lang="en-GB" sz="3200" b="1" spc="-1" dirty="0">
                <a:latin typeface="Times New Roman" panose="02020603050405020304" pitchFamily="18" charset="0"/>
                <a:cs typeface="Times New Roman" panose="02020603050405020304" pitchFamily="18" charset="0"/>
              </a:rPr>
              <a:t>Problem Definition:</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 recent years, the deterioration of air quality has become a critical issue globally, impacting public health, environmental sustainability, and quality of life. To address this challenge effectively, there is a pressing need for a robust air quality monitoring system that provides accurate, real-time data on air pollution levels.</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Lack of Comprehensive Monitoring:</a:t>
            </a:r>
            <a:r>
              <a:rPr lang="en-US" sz="2000" dirty="0">
                <a:latin typeface="Times New Roman" panose="02020603050405020304" pitchFamily="18" charset="0"/>
                <a:cs typeface="Times New Roman" panose="02020603050405020304" pitchFamily="18" charset="0"/>
              </a:rPr>
              <a:t> Existing air quality monitoring systems often lack comprehensive coverage, leaving certain areas underserved or poorly monitored. This leads to gaps in data collection and an incomplete understanding of air pollution patterns. </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Inaccurate Data: </a:t>
            </a:r>
            <a:r>
              <a:rPr lang="en-US" sz="2000" dirty="0">
                <a:latin typeface="Times New Roman" panose="02020603050405020304" pitchFamily="18" charset="0"/>
                <a:cs typeface="Times New Roman" panose="02020603050405020304" pitchFamily="18" charset="0"/>
              </a:rPr>
              <a:t>Many current monitoring systems utilize outdated technology or insufficient monitoring stations, resulting in inaccurate data. This compromises the reliability of air quality assessments and hinders effective decision-making for pollution control measures. </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Limited Accessibility: </a:t>
            </a:r>
            <a:r>
              <a:rPr lang="en-US" sz="2000" dirty="0">
                <a:latin typeface="Times New Roman" panose="02020603050405020304" pitchFamily="18" charset="0"/>
                <a:cs typeface="Times New Roman" panose="02020603050405020304" pitchFamily="18" charset="0"/>
              </a:rPr>
              <a:t>Accessibility to air quality data is often restricted, making it challenging for policymakers, researchers, and the public to access timely and relevant information. This impedes efforts to raise awareness, implement targeted interventions, and foster community engagement in addressing air pollution.</a:t>
            </a:r>
          </a:p>
          <a:p>
            <a:endParaRPr lang="en-GB" sz="3200" b="1" spc="-1"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 xmlns:a16="http://schemas.microsoft.com/office/drawing/2014/main" id="{CDB27B1A-6D83-421A-8C28-DEE045CA2810}"/>
              </a:ext>
            </a:extLst>
          </p:cNvPr>
          <p:cNvSpPr>
            <a:spLocks noGrp="1"/>
          </p:cNvSpPr>
          <p:nvPr>
            <p:ph type="ftr" sz="quarter" idx="11"/>
          </p:nvPr>
        </p:nvSpPr>
        <p:spPr/>
        <p:txBody>
          <a:bodyPr/>
          <a:lstStyle/>
          <a:p>
            <a:r>
              <a:rPr lang="en-US" dirty="0"/>
              <a:t> </a:t>
            </a:r>
            <a:endParaRPr lang="en-IN" dirty="0"/>
          </a:p>
        </p:txBody>
      </p:sp>
      <p:sp>
        <p:nvSpPr>
          <p:cNvPr id="3" name="Slide Number Placeholder 2">
            <a:extLst>
              <a:ext uri="{FF2B5EF4-FFF2-40B4-BE49-F238E27FC236}">
                <a16:creationId xmlns="" xmlns:a16="http://schemas.microsoft.com/office/drawing/2014/main" id="{D9F91A99-A8B3-418B-8EF2-A41CA3F39BC1}"/>
              </a:ext>
            </a:extLst>
          </p:cNvPr>
          <p:cNvSpPr>
            <a:spLocks noGrp="1"/>
          </p:cNvSpPr>
          <p:nvPr>
            <p:ph type="sldNum" sz="quarter" idx="12"/>
          </p:nvPr>
        </p:nvSpPr>
        <p:spPr/>
        <p:txBody>
          <a:bodyPr/>
          <a:lstStyle/>
          <a:p>
            <a:fld id="{ACE2F108-0A8D-40BD-9A9C-464734DAE4AE}" type="slidenum">
              <a:rPr lang="en-IN" smtClean="0"/>
              <a:t>3</a:t>
            </a:fld>
            <a:endParaRPr lang="en-IN"/>
          </a:p>
        </p:txBody>
      </p:sp>
    </p:spTree>
    <p:extLst>
      <p:ext uri="{BB962C8B-B14F-4D97-AF65-F5344CB8AC3E}">
        <p14:creationId xmlns:p14="http://schemas.microsoft.com/office/powerpoint/2010/main" val="13354800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751D5420-AD10-40C7-8FE1-49419E33A618}"/>
              </a:ext>
            </a:extLst>
          </p:cNvPr>
          <p:cNvSpPr>
            <a:spLocks noGrp="1"/>
          </p:cNvSpPr>
          <p:nvPr>
            <p:ph type="dt" sz="half" idx="10"/>
          </p:nvPr>
        </p:nvSpPr>
        <p:spPr/>
        <p:txBody>
          <a:bodyPr/>
          <a:lstStyle/>
          <a:p>
            <a:r>
              <a:rPr lang="en-US" dirty="0"/>
              <a:t> </a:t>
            </a:r>
            <a:endParaRPr lang="en-IN" dirty="0"/>
          </a:p>
        </p:txBody>
      </p:sp>
      <p:sp>
        <p:nvSpPr>
          <p:cNvPr id="5" name="Footer Placeholder 4">
            <a:extLst>
              <a:ext uri="{FF2B5EF4-FFF2-40B4-BE49-F238E27FC236}">
                <a16:creationId xmlns="" xmlns:a16="http://schemas.microsoft.com/office/drawing/2014/main" id="{A6765862-52E3-4C96-91F0-728A42A86F89}"/>
              </a:ext>
            </a:extLst>
          </p:cNvPr>
          <p:cNvSpPr>
            <a:spLocks noGrp="1"/>
          </p:cNvSpPr>
          <p:nvPr>
            <p:ph type="ftr" sz="quarter" idx="11"/>
          </p:nvPr>
        </p:nvSpPr>
        <p:spPr/>
        <p:txBody>
          <a:bodyPr/>
          <a:lstStyle/>
          <a:p>
            <a:r>
              <a:rPr lang="en-US" dirty="0"/>
              <a:t> </a:t>
            </a:r>
            <a:endParaRPr lang="en-IN" dirty="0"/>
          </a:p>
        </p:txBody>
      </p:sp>
      <p:sp>
        <p:nvSpPr>
          <p:cNvPr id="3" name="Slide Number Placeholder 2">
            <a:extLst>
              <a:ext uri="{FF2B5EF4-FFF2-40B4-BE49-F238E27FC236}">
                <a16:creationId xmlns="" xmlns:a16="http://schemas.microsoft.com/office/drawing/2014/main" id="{D9F91A99-A8B3-418B-8EF2-A41CA3F39BC1}"/>
              </a:ext>
            </a:extLst>
          </p:cNvPr>
          <p:cNvSpPr>
            <a:spLocks noGrp="1"/>
          </p:cNvSpPr>
          <p:nvPr>
            <p:ph type="sldNum" sz="quarter" idx="12"/>
          </p:nvPr>
        </p:nvSpPr>
        <p:spPr/>
        <p:txBody>
          <a:bodyPr/>
          <a:lstStyle/>
          <a:p>
            <a:fld id="{ACE2F108-0A8D-40BD-9A9C-464734DAE4AE}" type="slidenum">
              <a:rPr lang="en-IN" smtClean="0"/>
              <a:t>4</a:t>
            </a:fld>
            <a:endParaRPr lang="en-IN"/>
          </a:p>
        </p:txBody>
      </p:sp>
      <p:sp>
        <p:nvSpPr>
          <p:cNvPr id="4" name="Rectangle 3">
            <a:extLst>
              <a:ext uri="{FF2B5EF4-FFF2-40B4-BE49-F238E27FC236}">
                <a16:creationId xmlns="" xmlns:a16="http://schemas.microsoft.com/office/drawing/2014/main" id="{DB8C1904-C13A-4A9C-9A93-95A9F9518F43}"/>
              </a:ext>
            </a:extLst>
          </p:cNvPr>
          <p:cNvSpPr/>
          <p:nvPr/>
        </p:nvSpPr>
        <p:spPr>
          <a:xfrm>
            <a:off x="562062" y="318782"/>
            <a:ext cx="11190914" cy="6196568"/>
          </a:xfrm>
          <a:prstGeom prst="rect">
            <a:avLst/>
          </a:prstGeom>
        </p:spPr>
        <p:txBody>
          <a:bodyPr wrap="square">
            <a:spAutoFit/>
          </a:bodyPr>
          <a:lstStyle/>
          <a:p>
            <a:pPr algn="just">
              <a:spcAft>
                <a:spcPts val="1036"/>
              </a:spcAft>
            </a:pPr>
            <a:r>
              <a:rPr lang="en-GB" sz="3200" b="1" spc="-1" dirty="0">
                <a:latin typeface="Times New Roman" panose="02020603050405020304" pitchFamily="18" charset="0"/>
                <a:cs typeface="Times New Roman" panose="02020603050405020304" pitchFamily="18" charset="0"/>
              </a:rPr>
              <a:t>Literature Survey:</a:t>
            </a:r>
          </a:p>
          <a:p>
            <a:pPr marL="457200" indent="-457200" algn="just">
              <a:spcAft>
                <a:spcPts val="1036"/>
              </a:spcAft>
              <a:buFont typeface="Arial" panose="020B0604020202020204" pitchFamily="34" charset="0"/>
              <a:buChar char="•"/>
            </a:pPr>
            <a:r>
              <a:rPr lang="en-GB" sz="2400" b="1" spc="-1" dirty="0" err="1">
                <a:solidFill>
                  <a:srgbClr val="1C1C1C"/>
                </a:solidFill>
                <a:latin typeface="Times New Roman" panose="02020603050405020304" pitchFamily="18" charset="0"/>
                <a:ea typeface="Times New Roman"/>
                <a:cs typeface="Times New Roman" panose="02020603050405020304" pitchFamily="18" charset="0"/>
              </a:rPr>
              <a:t>Somansh</a:t>
            </a:r>
            <a:r>
              <a:rPr lang="en-GB" sz="2400" b="1" spc="-1" dirty="0">
                <a:solidFill>
                  <a:srgbClr val="1C1C1C"/>
                </a:solidFill>
                <a:latin typeface="Times New Roman" panose="02020603050405020304" pitchFamily="18" charset="0"/>
                <a:ea typeface="Times New Roman"/>
                <a:cs typeface="Times New Roman" panose="02020603050405020304" pitchFamily="18" charset="0"/>
              </a:rPr>
              <a:t> &amp; Ashish (2017) </a:t>
            </a:r>
            <a:r>
              <a:rPr lang="en-GB" sz="2400" spc="-1" dirty="0">
                <a:solidFill>
                  <a:srgbClr val="1C1C1C"/>
                </a:solidFill>
                <a:latin typeface="Times New Roman" panose="02020603050405020304" pitchFamily="18" charset="0"/>
                <a:ea typeface="Times New Roman"/>
                <a:cs typeface="Times New Roman" panose="02020603050405020304" pitchFamily="18" charset="0"/>
              </a:rPr>
              <a:t>proposed real-time standalone air quality monitoring system using IoT. The measured data has compared with ground station data located in Delhi and displayed in Dashboard created using Arduino.</a:t>
            </a:r>
            <a:endParaRPr lang="en-GB" sz="2400" b="1" spc="-1" dirty="0">
              <a:solidFill>
                <a:srgbClr val="1C1C1C"/>
              </a:solidFill>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endParaRPr lang="en-GB" sz="2400" b="1" spc="-1" dirty="0">
              <a:solidFill>
                <a:srgbClr val="1C1C1C"/>
              </a:solidFill>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GB" sz="2400" b="1" spc="-1" dirty="0" err="1">
                <a:solidFill>
                  <a:srgbClr val="1C1C1C"/>
                </a:solidFill>
                <a:latin typeface="Times New Roman" panose="02020603050405020304" pitchFamily="18" charset="0"/>
                <a:ea typeface="Times New Roman"/>
                <a:cs typeface="Times New Roman" panose="02020603050405020304" pitchFamily="18" charset="0"/>
              </a:rPr>
              <a:t>Phala</a:t>
            </a:r>
            <a:r>
              <a:rPr lang="en-GB" sz="2400" b="1" spc="-1" dirty="0">
                <a:solidFill>
                  <a:srgbClr val="1C1C1C"/>
                </a:solidFill>
                <a:latin typeface="Times New Roman" panose="02020603050405020304" pitchFamily="18" charset="0"/>
                <a:ea typeface="Times New Roman"/>
                <a:cs typeface="Times New Roman" panose="02020603050405020304" pitchFamily="18" charset="0"/>
              </a:rPr>
              <a:t> et al (2016) </a:t>
            </a:r>
            <a:r>
              <a:rPr lang="en-GB" sz="2400" spc="-1" dirty="0">
                <a:solidFill>
                  <a:srgbClr val="1C1C1C"/>
                </a:solidFill>
                <a:latin typeface="Times New Roman" panose="02020603050405020304" pitchFamily="18" charset="0"/>
                <a:ea typeface="Times New Roman"/>
                <a:cs typeface="Times New Roman" panose="02020603050405020304" pitchFamily="18" charset="0"/>
              </a:rPr>
              <a:t>were presented an air quality monitoring system (AQMS) which is based on the IEEE/ISO/IEC 21451 standard. Concentrations of CO, CO2, SO2 and NO2, were measured using electrochemical and infrared sensors. </a:t>
            </a:r>
            <a:endParaRPr lang="en-GB" sz="2400" spc="-1" dirty="0" smtClean="0">
              <a:solidFill>
                <a:srgbClr val="1C1C1C"/>
              </a:solidFill>
              <a:latin typeface="Times New Roman" panose="02020603050405020304" pitchFamily="18" charset="0"/>
              <a:ea typeface="Times New Roman"/>
              <a:cs typeface="Times New Roman" panose="02020603050405020304" pitchFamily="18" charset="0"/>
            </a:endParaRPr>
          </a:p>
          <a:p>
            <a:pPr marL="457200" indent="-457200" algn="just">
              <a:buFont typeface="Arial" panose="020B0604020202020204" pitchFamily="34" charset="0"/>
              <a:buChar char="•"/>
            </a:pPr>
            <a:endParaRPr lang="en-GB" sz="3200" b="1" spc="-1" dirty="0">
              <a:solidFill>
                <a:srgbClr val="1C1C1C"/>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GB" sz="2400" b="1" spc="-1" dirty="0" err="1">
                <a:solidFill>
                  <a:srgbClr val="1C1C1C"/>
                </a:solidFill>
                <a:latin typeface="Times New Roman" panose="02020603050405020304" pitchFamily="18" charset="0"/>
                <a:ea typeface="Cambria"/>
                <a:cs typeface="Times New Roman" panose="02020603050405020304" pitchFamily="18" charset="0"/>
              </a:rPr>
              <a:t>Balasubramaniyan</a:t>
            </a:r>
            <a:r>
              <a:rPr lang="en-GB" sz="2400" b="1" spc="-1" dirty="0">
                <a:solidFill>
                  <a:srgbClr val="1C1C1C"/>
                </a:solidFill>
                <a:latin typeface="Times New Roman" panose="02020603050405020304" pitchFamily="18" charset="0"/>
                <a:ea typeface="Cambria"/>
                <a:cs typeface="Times New Roman" panose="02020603050405020304" pitchFamily="18" charset="0"/>
              </a:rPr>
              <a:t> et al., (2016) </a:t>
            </a:r>
            <a:r>
              <a:rPr lang="en-GB" sz="2400" spc="-1" dirty="0">
                <a:solidFill>
                  <a:srgbClr val="1C1C1C"/>
                </a:solidFill>
                <a:latin typeface="Times New Roman" panose="02020603050405020304" pitchFamily="18" charset="0"/>
                <a:ea typeface="Cambria"/>
                <a:cs typeface="Times New Roman" panose="02020603050405020304" pitchFamily="18" charset="0"/>
              </a:rPr>
              <a:t>proposed  Sensor web node with commercial gas sensors for detecting the gases like CO, CO2, NH3 and NOx to monitor both indoor and outdoor air quality. The observed results are properly evaluated using Thing Speak open source IoT platform.</a:t>
            </a:r>
            <a:endParaRPr lang="en-GB" sz="2400" b="1" spc="-1" dirty="0">
              <a:solidFill>
                <a:srgbClr val="1C1C1C"/>
              </a:solidFill>
              <a:latin typeface="Times New Roman" panose="02020603050405020304" pitchFamily="18" charset="0"/>
              <a:cs typeface="Times New Roman" panose="02020603050405020304" pitchFamily="18" charset="0"/>
            </a:endParaRPr>
          </a:p>
          <a:p>
            <a:pPr algn="just"/>
            <a:endParaRPr lang="en-GB" sz="2400" b="1" spc="-1" dirty="0">
              <a:solidFill>
                <a:srgbClr val="1C1C1C"/>
              </a:solidFill>
              <a:latin typeface="Times New Roman" panose="02020603050405020304" pitchFamily="18" charset="0"/>
              <a:cs typeface="Times New Roman" panose="02020603050405020304" pitchFamily="18" charset="0"/>
            </a:endParaRPr>
          </a:p>
          <a:p>
            <a:pPr algn="just"/>
            <a:endParaRPr lang="en-GB" sz="1400" b="1" spc="-1" dirty="0">
              <a:solidFill>
                <a:srgbClr val="1C1C1C"/>
              </a:solidFill>
              <a:latin typeface="Times New Roman" panose="02020603050405020304" pitchFamily="18" charset="0"/>
              <a:cs typeface="Times New Roman" panose="02020603050405020304" pitchFamily="18" charset="0"/>
            </a:endParaRPr>
          </a:p>
          <a:p>
            <a:pPr algn="just"/>
            <a:endParaRPr lang="en-GB" sz="1400" b="1" spc="-1" dirty="0">
              <a:solidFill>
                <a:srgbClr val="1C1C1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07757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16E449C2-15B4-584F-A816-BD52AC1105D5}"/>
              </a:ext>
            </a:extLst>
          </p:cNvPr>
          <p:cNvSpPr>
            <a:spLocks noGrp="1"/>
          </p:cNvSpPr>
          <p:nvPr>
            <p:ph type="dt" sz="half" idx="10"/>
          </p:nvPr>
        </p:nvSpPr>
        <p:spPr/>
        <p:txBody>
          <a:bodyPr/>
          <a:lstStyle/>
          <a:p>
            <a:r>
              <a:rPr lang="en-US" dirty="0"/>
              <a:t> </a:t>
            </a:r>
            <a:endParaRPr lang="en-IN" dirty="0"/>
          </a:p>
        </p:txBody>
      </p:sp>
      <p:sp>
        <p:nvSpPr>
          <p:cNvPr id="3" name="Footer Placeholder 2">
            <a:extLst>
              <a:ext uri="{FF2B5EF4-FFF2-40B4-BE49-F238E27FC236}">
                <a16:creationId xmlns="" xmlns:a16="http://schemas.microsoft.com/office/drawing/2014/main" id="{0B3D51D5-7527-F35A-463A-505E0FC35D3A}"/>
              </a:ext>
            </a:extLst>
          </p:cNvPr>
          <p:cNvSpPr>
            <a:spLocks noGrp="1"/>
          </p:cNvSpPr>
          <p:nvPr>
            <p:ph type="ftr" sz="quarter" idx="11"/>
          </p:nvPr>
        </p:nvSpPr>
        <p:spPr/>
        <p:txBody>
          <a:bodyPr/>
          <a:lstStyle/>
          <a:p>
            <a:r>
              <a:rPr lang="en-US" dirty="0"/>
              <a:t> </a:t>
            </a:r>
            <a:endParaRPr lang="en-IN" dirty="0"/>
          </a:p>
        </p:txBody>
      </p:sp>
      <p:sp>
        <p:nvSpPr>
          <p:cNvPr id="4" name="Slide Number Placeholder 3">
            <a:extLst>
              <a:ext uri="{FF2B5EF4-FFF2-40B4-BE49-F238E27FC236}">
                <a16:creationId xmlns="" xmlns:a16="http://schemas.microsoft.com/office/drawing/2014/main" id="{4578C167-521D-11C0-1DCE-C43C8B2F8527}"/>
              </a:ext>
            </a:extLst>
          </p:cNvPr>
          <p:cNvSpPr>
            <a:spLocks noGrp="1"/>
          </p:cNvSpPr>
          <p:nvPr>
            <p:ph type="sldNum" sz="quarter" idx="12"/>
          </p:nvPr>
        </p:nvSpPr>
        <p:spPr/>
        <p:txBody>
          <a:bodyPr/>
          <a:lstStyle/>
          <a:p>
            <a:fld id="{ACE2F108-0A8D-40BD-9A9C-464734DAE4AE}" type="slidenum">
              <a:rPr lang="en-IN" smtClean="0"/>
              <a:t>5</a:t>
            </a:fld>
            <a:endParaRPr lang="en-IN"/>
          </a:p>
        </p:txBody>
      </p:sp>
      <p:sp>
        <p:nvSpPr>
          <p:cNvPr id="6" name="TextBox 5">
            <a:extLst>
              <a:ext uri="{FF2B5EF4-FFF2-40B4-BE49-F238E27FC236}">
                <a16:creationId xmlns="" xmlns:a16="http://schemas.microsoft.com/office/drawing/2014/main" id="{616049F6-8586-B548-34AB-1BA8E848045C}"/>
              </a:ext>
            </a:extLst>
          </p:cNvPr>
          <p:cNvSpPr txBox="1"/>
          <p:nvPr/>
        </p:nvSpPr>
        <p:spPr>
          <a:xfrm>
            <a:off x="0" y="602673"/>
            <a:ext cx="11429999" cy="5816977"/>
          </a:xfrm>
          <a:prstGeom prst="rect">
            <a:avLst/>
          </a:prstGeom>
          <a:noFill/>
        </p:spPr>
        <p:txBody>
          <a:bodyPr wrap="square">
            <a:spAutoFit/>
          </a:bodyPr>
          <a:lstStyle/>
          <a:p>
            <a:pPr algn="just"/>
            <a:r>
              <a:rPr lang="en-GB" sz="3200" b="1" spc="-1" dirty="0">
                <a:solidFill>
                  <a:srgbClr val="1C1C1C"/>
                </a:solidFill>
                <a:latin typeface="Times New Roman" panose="02020603050405020304" pitchFamily="18" charset="0"/>
                <a:cs typeface="Times New Roman" panose="02020603050405020304" pitchFamily="18" charset="0"/>
              </a:rPr>
              <a:t>Objective</a:t>
            </a:r>
            <a:r>
              <a:rPr lang="en-GB" sz="3200" b="1" spc="-1" dirty="0" smtClean="0">
                <a:solidFill>
                  <a:srgbClr val="1C1C1C"/>
                </a:solidFill>
                <a:latin typeface="Times New Roman" panose="02020603050405020304" pitchFamily="18" charset="0"/>
                <a:cs typeface="Times New Roman" panose="02020603050405020304" pitchFamily="18" charset="0"/>
              </a:rPr>
              <a:t>:</a:t>
            </a:r>
          </a:p>
          <a:p>
            <a:pPr algn="just"/>
            <a:endParaRPr lang="en-GB" sz="2000" b="1" spc="-1" dirty="0" smtClean="0">
              <a:solidFill>
                <a:srgbClr val="1C1C1C"/>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Install High Efficiency Particulate Air (HEPA) filters in strategic locations within the target area. </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Integrate water sprayers or misting systems along with the HEPA filter units. Water sprayers help in controlling larger particles and can also mitigate certain gaseous pollutants by promoting their dissolution into water droplets.</a:t>
            </a: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Interface the air quality sensors with the Arduino board to collect real-time measurements of pollutant concentrations.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Implement data analytics algorithms to analyze air quality trends, detect pollution spikes, and identify potential sources of contamination. Generate visualizations and reports to present actionable insights to stakeholders.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Set up a cloud-based </a:t>
            </a:r>
            <a:r>
              <a:rPr lang="en-US" sz="2000" dirty="0" err="1">
                <a:latin typeface="Times New Roman" panose="02020603050405020304" pitchFamily="18" charset="0"/>
                <a:cs typeface="Times New Roman" panose="02020603050405020304" pitchFamily="18" charset="0"/>
              </a:rPr>
              <a:t>IoT</a:t>
            </a:r>
            <a:r>
              <a:rPr lang="en-US" sz="2000" dirty="0">
                <a:latin typeface="Times New Roman" panose="02020603050405020304" pitchFamily="18" charset="0"/>
                <a:cs typeface="Times New Roman" panose="02020603050405020304" pitchFamily="18" charset="0"/>
              </a:rPr>
              <a:t> platform (e.g., AWS </a:t>
            </a:r>
            <a:r>
              <a:rPr lang="en-US" sz="2000" dirty="0" err="1">
                <a:latin typeface="Times New Roman" panose="02020603050405020304" pitchFamily="18" charset="0"/>
                <a:cs typeface="Times New Roman" panose="02020603050405020304" pitchFamily="18" charset="0"/>
              </a:rPr>
              <a:t>IoT</a:t>
            </a:r>
            <a:r>
              <a:rPr lang="en-US" sz="2000" dirty="0">
                <a:latin typeface="Times New Roman" panose="02020603050405020304" pitchFamily="18" charset="0"/>
                <a:cs typeface="Times New Roman" panose="02020603050405020304" pitchFamily="18" charset="0"/>
              </a:rPr>
              <a:t>, Azure </a:t>
            </a:r>
            <a:r>
              <a:rPr lang="en-US" sz="2000" dirty="0" err="1">
                <a:latin typeface="Times New Roman" panose="02020603050405020304" pitchFamily="18" charset="0"/>
                <a:cs typeface="Times New Roman" panose="02020603050405020304" pitchFamily="18" charset="0"/>
              </a:rPr>
              <a:t>IoT</a:t>
            </a:r>
            <a:r>
              <a:rPr lang="en-US" sz="2000" dirty="0">
                <a:latin typeface="Times New Roman" panose="02020603050405020304" pitchFamily="18" charset="0"/>
                <a:cs typeface="Times New Roman" panose="02020603050405020304" pitchFamily="18" charset="0"/>
              </a:rPr>
              <a:t>, Google Cloud </a:t>
            </a:r>
            <a:r>
              <a:rPr lang="en-US" sz="2000" dirty="0" err="1">
                <a:latin typeface="Times New Roman" panose="02020603050405020304" pitchFamily="18" charset="0"/>
                <a:cs typeface="Times New Roman" panose="02020603050405020304" pitchFamily="18" charset="0"/>
              </a:rPr>
              <a:t>IoT</a:t>
            </a:r>
            <a:r>
              <a:rPr lang="en-US" sz="2000" dirty="0">
                <a:latin typeface="Times New Roman" panose="02020603050405020304" pitchFamily="18" charset="0"/>
                <a:cs typeface="Times New Roman" panose="02020603050405020304" pitchFamily="18" charset="0"/>
              </a:rPr>
              <a:t>) to receive and store sensor data in a centralized database.</a:t>
            </a:r>
          </a:p>
          <a:p>
            <a:pPr algn="just"/>
            <a:endParaRPr lang="en-GB" sz="2000" b="1" spc="-1" dirty="0">
              <a:solidFill>
                <a:srgbClr val="1C1C1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9990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 xmlns:a16="http://schemas.microsoft.com/office/drawing/2014/main" id="{31DD5441-D070-4B40-BC8F-A35548C873CF}"/>
              </a:ext>
            </a:extLst>
          </p:cNvPr>
          <p:cNvSpPr>
            <a:spLocks noGrp="1"/>
          </p:cNvSpPr>
          <p:nvPr>
            <p:ph type="dt" sz="half" idx="10"/>
          </p:nvPr>
        </p:nvSpPr>
        <p:spPr/>
        <p:txBody>
          <a:bodyPr/>
          <a:lstStyle/>
          <a:p>
            <a:r>
              <a:rPr lang="en-US" dirty="0"/>
              <a:t> </a:t>
            </a:r>
            <a:endParaRPr lang="en-IN" dirty="0"/>
          </a:p>
        </p:txBody>
      </p:sp>
      <p:sp>
        <p:nvSpPr>
          <p:cNvPr id="6" name="Footer Placeholder 5">
            <a:extLst>
              <a:ext uri="{FF2B5EF4-FFF2-40B4-BE49-F238E27FC236}">
                <a16:creationId xmlns="" xmlns:a16="http://schemas.microsoft.com/office/drawing/2014/main" id="{76B87AD0-8B6C-4467-9953-15B60C4B56A7}"/>
              </a:ext>
            </a:extLst>
          </p:cNvPr>
          <p:cNvSpPr>
            <a:spLocks noGrp="1"/>
          </p:cNvSpPr>
          <p:nvPr>
            <p:ph type="ftr" sz="quarter" idx="11"/>
          </p:nvPr>
        </p:nvSpPr>
        <p:spPr/>
        <p:txBody>
          <a:bodyPr/>
          <a:lstStyle/>
          <a:p>
            <a:r>
              <a:rPr lang="en-IN" dirty="0"/>
              <a:t> </a:t>
            </a:r>
          </a:p>
        </p:txBody>
      </p:sp>
      <p:sp>
        <p:nvSpPr>
          <p:cNvPr id="3" name="Slide Number Placeholder 2">
            <a:extLst>
              <a:ext uri="{FF2B5EF4-FFF2-40B4-BE49-F238E27FC236}">
                <a16:creationId xmlns="" xmlns:a16="http://schemas.microsoft.com/office/drawing/2014/main" id="{D9F91A99-A8B3-418B-8EF2-A41CA3F39BC1}"/>
              </a:ext>
            </a:extLst>
          </p:cNvPr>
          <p:cNvSpPr>
            <a:spLocks noGrp="1"/>
          </p:cNvSpPr>
          <p:nvPr>
            <p:ph type="sldNum" sz="quarter" idx="12"/>
          </p:nvPr>
        </p:nvSpPr>
        <p:spPr/>
        <p:txBody>
          <a:bodyPr/>
          <a:lstStyle/>
          <a:p>
            <a:fld id="{ACE2F108-0A8D-40BD-9A9C-464734DAE4AE}" type="slidenum">
              <a:rPr lang="en-IN" smtClean="0"/>
              <a:t>6</a:t>
            </a:fld>
            <a:endParaRPr lang="en-IN"/>
          </a:p>
        </p:txBody>
      </p:sp>
      <p:sp>
        <p:nvSpPr>
          <p:cNvPr id="2" name="TextBox 1">
            <a:extLst>
              <a:ext uri="{FF2B5EF4-FFF2-40B4-BE49-F238E27FC236}">
                <a16:creationId xmlns="" xmlns:a16="http://schemas.microsoft.com/office/drawing/2014/main" id="{BFF761A2-0FC7-4CC5-B765-DE405A7201F7}"/>
              </a:ext>
            </a:extLst>
          </p:cNvPr>
          <p:cNvSpPr txBox="1"/>
          <p:nvPr/>
        </p:nvSpPr>
        <p:spPr>
          <a:xfrm>
            <a:off x="403625" y="224257"/>
            <a:ext cx="5424881" cy="6771084"/>
          </a:xfrm>
          <a:prstGeom prst="rect">
            <a:avLst/>
          </a:prstGeom>
          <a:noFill/>
        </p:spPr>
        <p:txBody>
          <a:bodyPr wrap="square" rtlCol="0">
            <a:spAutoFit/>
          </a:bodyPr>
          <a:lstStyle/>
          <a:p>
            <a:pPr algn="just"/>
            <a:r>
              <a:rPr lang="en-GB" sz="3200" b="1" spc="-1" dirty="0" smtClean="0">
                <a:latin typeface="Times New Roman" panose="02020603050405020304" pitchFamily="18" charset="0"/>
                <a:cs typeface="Times New Roman" panose="02020603050405020304" pitchFamily="18" charset="0"/>
              </a:rPr>
              <a:t>Methodology:</a:t>
            </a:r>
          </a:p>
          <a:p>
            <a:pPr algn="just"/>
            <a:endParaRPr lang="en-GB" sz="3200" b="1" spc="-1" dirty="0" smtClean="0">
              <a:latin typeface="Times New Roman" panose="02020603050405020304" pitchFamily="18" charset="0"/>
              <a:cs typeface="Times New Roman" panose="02020603050405020304" pitchFamily="18" charset="0"/>
            </a:endParaRPr>
          </a:p>
          <a:p>
            <a:pPr marL="342900" indent="-342900" algn="just">
              <a:buAutoNum type="arabicPeriod"/>
            </a:pPr>
            <a:r>
              <a:rPr lang="en-IN" b="1" dirty="0" smtClean="0">
                <a:latin typeface="Times New Roman" panose="02020603050405020304" pitchFamily="18" charset="0"/>
                <a:cs typeface="Times New Roman" panose="02020603050405020304" pitchFamily="18" charset="0"/>
              </a:rPr>
              <a:t>Design </a:t>
            </a:r>
            <a:r>
              <a:rPr lang="en-IN" b="1" dirty="0">
                <a:latin typeface="Times New Roman" panose="02020603050405020304" pitchFamily="18" charset="0"/>
                <a:cs typeface="Times New Roman" panose="02020603050405020304" pitchFamily="18" charset="0"/>
              </a:rPr>
              <a:t>of Air Quality Control System</a:t>
            </a:r>
            <a:r>
              <a:rPr lang="en-IN" b="1" dirty="0" smtClean="0">
                <a:latin typeface="Times New Roman" panose="02020603050405020304" pitchFamily="18" charset="0"/>
                <a:cs typeface="Times New Roman" panose="02020603050405020304" pitchFamily="18" charset="0"/>
              </a:rPr>
              <a:t>:</a:t>
            </a:r>
          </a:p>
          <a:p>
            <a:pPr algn="just"/>
            <a:endParaRPr lang="en-IN" sz="3600" b="1" dirty="0"/>
          </a:p>
          <a:p>
            <a:pPr algn="just"/>
            <a:r>
              <a:rPr lang="en-IN" b="1" dirty="0">
                <a:latin typeface="Times New Roman" panose="02020603050405020304" pitchFamily="18" charset="0"/>
                <a:cs typeface="Times New Roman" panose="02020603050405020304" pitchFamily="18" charset="0"/>
              </a:rPr>
              <a:t>a. HEPA Filter Installation: </a:t>
            </a:r>
          </a:p>
          <a:p>
            <a:pPr algn="just"/>
            <a:r>
              <a:rPr lang="en-IN" dirty="0">
                <a:latin typeface="Times New Roman" panose="02020603050405020304" pitchFamily="18" charset="0"/>
                <a:cs typeface="Times New Roman" panose="02020603050405020304" pitchFamily="18" charset="0"/>
              </a:rPr>
              <a:t>Install High Efficiency Particulate Air (HEPA) filters in strategic locations within the target area. </a:t>
            </a:r>
          </a:p>
          <a:p>
            <a:pPr algn="just"/>
            <a:r>
              <a:rPr lang="en-IN" dirty="0">
                <a:latin typeface="Times New Roman" panose="02020603050405020304" pitchFamily="18" charset="0"/>
                <a:cs typeface="Times New Roman" panose="02020603050405020304" pitchFamily="18" charset="0"/>
              </a:rPr>
              <a:t>HEPA filters are capable of capturing particles as small as 0.3 microns with high efficiency, </a:t>
            </a:r>
          </a:p>
          <a:p>
            <a:pPr algn="just"/>
            <a:r>
              <a:rPr lang="en-IN" dirty="0">
                <a:latin typeface="Times New Roman" panose="02020603050405020304" pitchFamily="18" charset="0"/>
                <a:cs typeface="Times New Roman" panose="02020603050405020304" pitchFamily="18" charset="0"/>
              </a:rPr>
              <a:t>including dust, pollen, smoke, and other airborne pollutants.</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b. Water Sprayer Installation: </a:t>
            </a:r>
          </a:p>
          <a:p>
            <a:pPr algn="just"/>
            <a:r>
              <a:rPr lang="en-IN" dirty="0">
                <a:latin typeface="Times New Roman" panose="02020603050405020304" pitchFamily="18" charset="0"/>
                <a:cs typeface="Times New Roman" panose="02020603050405020304" pitchFamily="18" charset="0"/>
              </a:rPr>
              <a:t>Integrate water sprayers or misting systems along with the HEPA filter units. </a:t>
            </a:r>
          </a:p>
          <a:p>
            <a:pPr algn="just"/>
            <a:r>
              <a:rPr lang="en-IN" dirty="0">
                <a:latin typeface="Times New Roman" panose="02020603050405020304" pitchFamily="18" charset="0"/>
                <a:cs typeface="Times New Roman" panose="02020603050405020304" pitchFamily="18" charset="0"/>
              </a:rPr>
              <a:t>Water sprayers help in controlling larger particles and can also mitigate certain gaseous pollutants by promoting their dissolution into water droplets.</a:t>
            </a:r>
          </a:p>
          <a:p>
            <a:endParaRPr lang="en-IN" sz="3200" dirty="0"/>
          </a:p>
          <a:p>
            <a:pPr algn="just">
              <a:spcAft>
                <a:spcPts val="1036"/>
              </a:spcAft>
            </a:pPr>
            <a:endParaRPr lang="en-GB" sz="3200" b="1" spc="-1" dirty="0">
              <a:latin typeface="Times New Roman" panose="02020603050405020304" pitchFamily="18" charset="0"/>
              <a:cs typeface="Times New Roman" panose="02020603050405020304" pitchFamily="18" charset="0"/>
            </a:endParaRPr>
          </a:p>
        </p:txBody>
      </p:sp>
      <p:sp>
        <p:nvSpPr>
          <p:cNvPr id="7" name="AutoShape 2" descr=", AI generated">
            <a:extLst>
              <a:ext uri="{FF2B5EF4-FFF2-40B4-BE49-F238E27FC236}">
                <a16:creationId xmlns="" xmlns:a16="http://schemas.microsoft.com/office/drawing/2014/main" id="{29D6F683-9C20-11C5-CD0A-AEECC8BDF24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4" descr=", AI generated">
            <a:extLst>
              <a:ext uri="{FF2B5EF4-FFF2-40B4-BE49-F238E27FC236}">
                <a16:creationId xmlns="" xmlns:a16="http://schemas.microsoft.com/office/drawing/2014/main" id="{551B2337-F7D7-EDA3-88FE-915ED9B0E351}"/>
              </a:ext>
            </a:extLst>
          </p:cNvPr>
          <p:cNvSpPr>
            <a:spLocks noChangeAspect="1" noChangeArrowheads="1"/>
          </p:cNvSpPr>
          <p:nvPr/>
        </p:nvSpPr>
        <p:spPr bwMode="auto">
          <a:xfrm flipV="1">
            <a:off x="6095999" y="945573"/>
            <a:ext cx="5424881" cy="389735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p:cNvPicPr>
            <a:picLocks noChangeAspect="1"/>
          </p:cNvPicPr>
          <p:nvPr/>
        </p:nvPicPr>
        <p:blipFill>
          <a:blip r:embed="rId2"/>
          <a:stretch>
            <a:fillRect/>
          </a:stretch>
        </p:blipFill>
        <p:spPr>
          <a:xfrm>
            <a:off x="5943600" y="1223403"/>
            <a:ext cx="6073474" cy="4106393"/>
          </a:xfrm>
          <a:prstGeom prst="rect">
            <a:avLst/>
          </a:prstGeom>
        </p:spPr>
      </p:pic>
    </p:spTree>
    <p:extLst>
      <p:ext uri="{BB962C8B-B14F-4D97-AF65-F5344CB8AC3E}">
        <p14:creationId xmlns:p14="http://schemas.microsoft.com/office/powerpoint/2010/main" val="360928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CE2F108-0A8D-40BD-9A9C-464734DAE4AE}" type="slidenum">
              <a:rPr lang="en-IN" smtClean="0"/>
              <a:t>7</a:t>
            </a:fld>
            <a:endParaRPr lang="en-IN"/>
          </a:p>
        </p:txBody>
      </p:sp>
      <p:sp>
        <p:nvSpPr>
          <p:cNvPr id="5" name="Rectangle 4"/>
          <p:cNvSpPr/>
          <p:nvPr/>
        </p:nvSpPr>
        <p:spPr>
          <a:xfrm>
            <a:off x="433953" y="534693"/>
            <a:ext cx="9012264" cy="4169043"/>
          </a:xfrm>
          <a:prstGeom prst="rect">
            <a:avLst/>
          </a:prstGeom>
        </p:spPr>
        <p:txBody>
          <a:bodyPr wrap="square">
            <a:spAutoFit/>
          </a:bodyPr>
          <a:lstStyle/>
          <a:p>
            <a:pPr algn="just">
              <a:lnSpc>
                <a:spcPct val="120000"/>
              </a:lnSpc>
            </a:pPr>
            <a:r>
              <a:rPr lang="en-US" b="1" dirty="0">
                <a:latin typeface="Times New Roman" panose="02020603050405020304" pitchFamily="18" charset="0"/>
                <a:cs typeface="Times New Roman" panose="02020603050405020304" pitchFamily="18" charset="0"/>
              </a:rPr>
              <a:t>2. Placement of Control Units:</a:t>
            </a:r>
            <a:r>
              <a:rPr lang="en-US" dirty="0">
                <a:latin typeface="Times New Roman" panose="02020603050405020304" pitchFamily="18" charset="0"/>
                <a:cs typeface="Times New Roman" panose="02020603050405020304" pitchFamily="18" charset="0"/>
              </a:rPr>
              <a:t> Determine optimal locations for placing HEPA filter units and water sprayers based on air flow patterns, pollution hotspots, and population density. Ensure coverage of key areas such as residential neighborhoods, industrial zones, and commercial districts.</a:t>
            </a:r>
            <a:endParaRPr lang="en-IN" dirty="0">
              <a:latin typeface="Times New Roman" panose="02020603050405020304" pitchFamily="18" charset="0"/>
              <a:cs typeface="Times New Roman" panose="02020603050405020304" pitchFamily="18" charset="0"/>
            </a:endParaRPr>
          </a:p>
          <a:p>
            <a:pPr algn="just">
              <a:lnSpc>
                <a:spcPct val="120000"/>
              </a:lnSpc>
              <a:spcBef>
                <a:spcPts val="1200"/>
              </a:spcBef>
            </a:pPr>
            <a:r>
              <a:rPr lang="en-US" b="1" dirty="0">
                <a:latin typeface="Times New Roman" panose="02020603050405020304" pitchFamily="18" charset="0"/>
                <a:cs typeface="Times New Roman" panose="02020603050405020304" pitchFamily="18" charset="0"/>
              </a:rPr>
              <a:t>3. Identification of Pollution Sources:</a:t>
            </a:r>
            <a:r>
              <a:rPr lang="en-US" dirty="0">
                <a:latin typeface="Times New Roman" panose="02020603050405020304" pitchFamily="18" charset="0"/>
                <a:cs typeface="Times New Roman" panose="02020603050405020304" pitchFamily="18" charset="0"/>
              </a:rPr>
              <a:t> Conduct a thorough assessment to identify the primary sources of air pollution in the target area, including industrial emissions, vehicular exhaust, biomass burning, and other sources.</a:t>
            </a:r>
          </a:p>
          <a:p>
            <a:pPr algn="just">
              <a:lnSpc>
                <a:spcPct val="120000"/>
              </a:lnSpc>
              <a:spcBef>
                <a:spcPts val="1200"/>
              </a:spcBef>
            </a:pPr>
            <a:r>
              <a:rPr lang="en-US" b="1" dirty="0">
                <a:latin typeface="Times New Roman" panose="02020603050405020304" pitchFamily="18" charset="0"/>
                <a:ea typeface="Times New Roman" panose="02020603050405020304" pitchFamily="18" charset="0"/>
                <a:cs typeface="Times New Roman" panose="02020603050405020304" pitchFamily="18" charset="0"/>
              </a:rPr>
              <a:t>4. </a:t>
            </a:r>
            <a:r>
              <a:rPr lang="en-US" b="1" dirty="0">
                <a:latin typeface="Times New Roman" panose="02020603050405020304" pitchFamily="18" charset="0"/>
                <a:cs typeface="Times New Roman" panose="02020603050405020304" pitchFamily="18" charset="0"/>
              </a:rPr>
              <a:t>Establish mechanisms for continuous evaluation and improvement of the air quality control system</a:t>
            </a:r>
            <a:r>
              <a:rPr lang="en-US" dirty="0">
                <a:latin typeface="Times New Roman" panose="02020603050405020304" pitchFamily="18" charset="0"/>
                <a:cs typeface="Times New Roman" panose="02020603050405020304" pitchFamily="18" charset="0"/>
              </a:rPr>
              <a:t>. Monitor system performance, gather feedback from stakeholders, and incorporate technological advancements or best practices to enhance overall effectiveness and efficiency.</a:t>
            </a:r>
            <a:endParaRPr lang="en-IN"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1246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 xmlns:a16="http://schemas.microsoft.com/office/drawing/2014/main" id="{FE24E443-CEBF-46B1-83F0-EB3B22045FDD}"/>
              </a:ext>
            </a:extLst>
          </p:cNvPr>
          <p:cNvSpPr>
            <a:spLocks noGrp="1"/>
          </p:cNvSpPr>
          <p:nvPr>
            <p:ph type="dt" sz="half" idx="10"/>
          </p:nvPr>
        </p:nvSpPr>
        <p:spPr/>
        <p:txBody>
          <a:bodyPr/>
          <a:lstStyle/>
          <a:p>
            <a:r>
              <a:rPr lang="en-US" dirty="0"/>
              <a:t> </a:t>
            </a:r>
            <a:endParaRPr lang="en-IN" dirty="0"/>
          </a:p>
        </p:txBody>
      </p:sp>
      <p:sp>
        <p:nvSpPr>
          <p:cNvPr id="6" name="Footer Placeholder 5">
            <a:extLst>
              <a:ext uri="{FF2B5EF4-FFF2-40B4-BE49-F238E27FC236}">
                <a16:creationId xmlns="" xmlns:a16="http://schemas.microsoft.com/office/drawing/2014/main" id="{0BA44324-4412-4281-97E5-7CCBDEB0A23B}"/>
              </a:ext>
            </a:extLst>
          </p:cNvPr>
          <p:cNvSpPr>
            <a:spLocks noGrp="1"/>
          </p:cNvSpPr>
          <p:nvPr>
            <p:ph type="ftr" sz="quarter" idx="11"/>
          </p:nvPr>
        </p:nvSpPr>
        <p:spPr/>
        <p:txBody>
          <a:bodyPr/>
          <a:lstStyle/>
          <a:p>
            <a:r>
              <a:rPr lang="en-IN" dirty="0"/>
              <a:t> </a:t>
            </a:r>
          </a:p>
        </p:txBody>
      </p:sp>
      <p:sp>
        <p:nvSpPr>
          <p:cNvPr id="3" name="Slide Number Placeholder 2">
            <a:extLst>
              <a:ext uri="{FF2B5EF4-FFF2-40B4-BE49-F238E27FC236}">
                <a16:creationId xmlns="" xmlns:a16="http://schemas.microsoft.com/office/drawing/2014/main" id="{D9F91A99-A8B3-418B-8EF2-A41CA3F39BC1}"/>
              </a:ext>
            </a:extLst>
          </p:cNvPr>
          <p:cNvSpPr>
            <a:spLocks noGrp="1"/>
          </p:cNvSpPr>
          <p:nvPr>
            <p:ph type="sldNum" sz="quarter" idx="12"/>
          </p:nvPr>
        </p:nvSpPr>
        <p:spPr/>
        <p:txBody>
          <a:bodyPr/>
          <a:lstStyle/>
          <a:p>
            <a:fld id="{ACE2F108-0A8D-40BD-9A9C-464734DAE4AE}" type="slidenum">
              <a:rPr lang="en-IN" smtClean="0"/>
              <a:t>8</a:t>
            </a:fld>
            <a:endParaRPr lang="en-IN"/>
          </a:p>
        </p:txBody>
      </p:sp>
      <p:sp>
        <p:nvSpPr>
          <p:cNvPr id="2" name="TextBox 1">
            <a:extLst>
              <a:ext uri="{FF2B5EF4-FFF2-40B4-BE49-F238E27FC236}">
                <a16:creationId xmlns="" xmlns:a16="http://schemas.microsoft.com/office/drawing/2014/main" id="{BFF761A2-0FC7-4CC5-B765-DE405A7201F7}"/>
              </a:ext>
            </a:extLst>
          </p:cNvPr>
          <p:cNvSpPr txBox="1"/>
          <p:nvPr/>
        </p:nvSpPr>
        <p:spPr>
          <a:xfrm>
            <a:off x="477924" y="324255"/>
            <a:ext cx="11140579" cy="584775"/>
          </a:xfrm>
          <a:prstGeom prst="rect">
            <a:avLst/>
          </a:prstGeom>
          <a:noFill/>
        </p:spPr>
        <p:txBody>
          <a:bodyPr wrap="square" rtlCol="0">
            <a:spAutoFit/>
          </a:bodyPr>
          <a:lstStyle/>
          <a:p>
            <a:pPr algn="just">
              <a:spcAft>
                <a:spcPts val="1036"/>
              </a:spcAft>
            </a:pPr>
            <a:r>
              <a:rPr lang="en-GB" sz="3200" b="1" spc="-1" dirty="0" smtClean="0">
                <a:solidFill>
                  <a:srgbClr val="1C1C1C"/>
                </a:solidFill>
                <a:latin typeface="Times New Roman" panose="02020603050405020304" pitchFamily="18" charset="0"/>
                <a:cs typeface="Times New Roman" panose="02020603050405020304" pitchFamily="18" charset="0"/>
              </a:rPr>
              <a:t>Hardware System </a:t>
            </a:r>
            <a:r>
              <a:rPr lang="en-GB" sz="3200" b="1" spc="-1" dirty="0">
                <a:solidFill>
                  <a:srgbClr val="1C1C1C"/>
                </a:solidFill>
                <a:latin typeface="Times New Roman" panose="02020603050405020304" pitchFamily="18" charset="0"/>
                <a:cs typeface="Times New Roman" panose="02020603050405020304" pitchFamily="18" charset="0"/>
              </a:rPr>
              <a:t>Architecture</a:t>
            </a:r>
          </a:p>
        </p:txBody>
      </p:sp>
      <p:pic>
        <p:nvPicPr>
          <p:cNvPr id="5" name="Picture 4"/>
          <p:cNvPicPr>
            <a:picLocks noChangeAspect="1"/>
          </p:cNvPicPr>
          <p:nvPr/>
        </p:nvPicPr>
        <p:blipFill>
          <a:blip r:embed="rId3"/>
          <a:stretch>
            <a:fillRect/>
          </a:stretch>
        </p:blipFill>
        <p:spPr>
          <a:xfrm>
            <a:off x="1247614" y="1020303"/>
            <a:ext cx="9601200" cy="5274911"/>
          </a:xfrm>
          <a:prstGeom prst="rect">
            <a:avLst/>
          </a:prstGeom>
        </p:spPr>
      </p:pic>
    </p:spTree>
    <p:extLst>
      <p:ext uri="{BB962C8B-B14F-4D97-AF65-F5344CB8AC3E}">
        <p14:creationId xmlns:p14="http://schemas.microsoft.com/office/powerpoint/2010/main" val="25900823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CE2F108-0A8D-40BD-9A9C-464734DAE4AE}" type="slidenum">
              <a:rPr lang="en-IN" smtClean="0"/>
              <a:t>9</a:t>
            </a:fld>
            <a:endParaRPr lang="en-IN"/>
          </a:p>
        </p:txBody>
      </p:sp>
      <p:pic>
        <p:nvPicPr>
          <p:cNvPr id="5" name="Content Placeholder 3" descr="A diagram of a computer chip&#10;&#10;Description automatically generated">
            <a:extLst>
              <a:ext uri="{FF2B5EF4-FFF2-40B4-BE49-F238E27FC236}">
                <a16:creationId xmlns="" xmlns:a16="http://schemas.microsoft.com/office/drawing/2014/main" xmlns:lc="http://schemas.openxmlformats.org/drawingml/2006/lockedCanvas" id="{0D07DAD7-DCF2-BDD7-3E15-811D75D866DD}"/>
              </a:ext>
            </a:extLst>
          </p:cNvPr>
          <p:cNvPicPr>
            <a:picLocks noGrp="1" noChangeAspect="1"/>
          </p:cNvPicPr>
          <p:nvPr/>
        </p:nvPicPr>
        <p:blipFill>
          <a:blip r:embed="rId2"/>
          <a:stretch>
            <a:fillRect/>
          </a:stretch>
        </p:blipFill>
        <p:spPr>
          <a:xfrm>
            <a:off x="1475258" y="1361819"/>
            <a:ext cx="7798744" cy="4351338"/>
          </a:xfrm>
          <a:prstGeom prst="rect">
            <a:avLst/>
          </a:prstGeom>
        </p:spPr>
      </p:pic>
      <p:sp>
        <p:nvSpPr>
          <p:cNvPr id="6" name="Rectangle 5"/>
          <p:cNvSpPr/>
          <p:nvPr/>
        </p:nvSpPr>
        <p:spPr>
          <a:xfrm>
            <a:off x="802749" y="616473"/>
            <a:ext cx="3023391" cy="584775"/>
          </a:xfrm>
          <a:prstGeom prst="rect">
            <a:avLst/>
          </a:prstGeom>
        </p:spPr>
        <p:txBody>
          <a:bodyPr wrap="square">
            <a:spAutoFit/>
          </a:bodyPr>
          <a:lstStyle/>
          <a:p>
            <a:pPr>
              <a:spcAft>
                <a:spcPts val="1036"/>
              </a:spcAft>
            </a:pPr>
            <a:r>
              <a:rPr lang="en-US" sz="3200" b="1" dirty="0" smtClean="0">
                <a:latin typeface="Times New Roman" panose="02020603050405020304" pitchFamily="18" charset="0"/>
                <a:cs typeface="Times New Roman" panose="02020603050405020304" pitchFamily="18" charset="0"/>
              </a:rPr>
              <a:t>Block Diagram</a:t>
            </a:r>
            <a:endParaRPr lang="en-US"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0669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80F8D67D-D301-4DF8-A60E-F65568DD762F}"/>
              </a:ext>
            </a:extLst>
          </p:cNvPr>
          <p:cNvSpPr>
            <a:spLocks noGrp="1"/>
          </p:cNvSpPr>
          <p:nvPr>
            <p:ph type="dt" sz="half" idx="10"/>
          </p:nvPr>
        </p:nvSpPr>
        <p:spPr/>
        <p:txBody>
          <a:bodyPr/>
          <a:lstStyle/>
          <a:p>
            <a:r>
              <a:rPr lang="en-US" dirty="0"/>
              <a:t> </a:t>
            </a:r>
            <a:endParaRPr lang="en-IN" dirty="0"/>
          </a:p>
        </p:txBody>
      </p:sp>
      <p:sp>
        <p:nvSpPr>
          <p:cNvPr id="3" name="Slide Number Placeholder 2">
            <a:extLst>
              <a:ext uri="{FF2B5EF4-FFF2-40B4-BE49-F238E27FC236}">
                <a16:creationId xmlns="" xmlns:a16="http://schemas.microsoft.com/office/drawing/2014/main" id="{D9F91A99-A8B3-418B-8EF2-A41CA3F39BC1}"/>
              </a:ext>
            </a:extLst>
          </p:cNvPr>
          <p:cNvSpPr>
            <a:spLocks noGrp="1"/>
          </p:cNvSpPr>
          <p:nvPr>
            <p:ph type="sldNum" sz="quarter" idx="12"/>
          </p:nvPr>
        </p:nvSpPr>
        <p:spPr/>
        <p:txBody>
          <a:bodyPr/>
          <a:lstStyle/>
          <a:p>
            <a:fld id="{ACE2F108-0A8D-40BD-9A9C-464734DAE4AE}" type="slidenum">
              <a:rPr lang="en-IN" smtClean="0"/>
              <a:t>10</a:t>
            </a:fld>
            <a:endParaRPr lang="en-IN" dirty="0"/>
          </a:p>
        </p:txBody>
      </p:sp>
      <p:sp>
        <p:nvSpPr>
          <p:cNvPr id="4" name="Rectangle 3">
            <a:extLst>
              <a:ext uri="{FF2B5EF4-FFF2-40B4-BE49-F238E27FC236}">
                <a16:creationId xmlns="" xmlns:a16="http://schemas.microsoft.com/office/drawing/2014/main" id="{A3562BEF-9A2B-4C28-A63A-6704FE2512DF}"/>
              </a:ext>
            </a:extLst>
          </p:cNvPr>
          <p:cNvSpPr/>
          <p:nvPr/>
        </p:nvSpPr>
        <p:spPr>
          <a:xfrm>
            <a:off x="495947" y="892314"/>
            <a:ext cx="7493429" cy="5816977"/>
          </a:xfrm>
          <a:prstGeom prst="rect">
            <a:avLst/>
          </a:prstGeom>
        </p:spPr>
        <p:txBody>
          <a:bodyPr wrap="square">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Arduino </a:t>
            </a:r>
            <a:r>
              <a:rPr lang="en-US" sz="1400" b="1" dirty="0" err="1" smtClean="0">
                <a:latin typeface="Times New Roman" panose="02020603050405020304" pitchFamily="18" charset="0"/>
                <a:cs typeface="Times New Roman" panose="02020603050405020304" pitchFamily="18" charset="0"/>
              </a:rPr>
              <a:t>uno</a:t>
            </a:r>
            <a:r>
              <a:rPr lang="en-US" sz="1400" b="1" dirty="0" smtClean="0">
                <a:latin typeface="Times New Roman" panose="02020603050405020304" pitchFamily="18" charset="0"/>
                <a:cs typeface="Times New Roman" panose="02020603050405020304" pitchFamily="18" charset="0"/>
              </a:rPr>
              <a:t>: </a:t>
            </a:r>
            <a:r>
              <a:rPr lang="en-IN" sz="1400" dirty="0" smtClean="0">
                <a:latin typeface="Times New Roman" panose="02020603050405020304" pitchFamily="18" charset="0"/>
                <a:cs typeface="Times New Roman" panose="02020603050405020304" pitchFamily="18" charset="0"/>
              </a:rPr>
              <a:t>Arduino </a:t>
            </a:r>
            <a:r>
              <a:rPr lang="en-IN" sz="1400" dirty="0" err="1">
                <a:latin typeface="Times New Roman" panose="02020603050405020304" pitchFamily="18" charset="0"/>
                <a:cs typeface="Times New Roman" panose="02020603050405020304" pitchFamily="18" charset="0"/>
              </a:rPr>
              <a:t>uno</a:t>
            </a:r>
            <a:r>
              <a:rPr lang="en-IN" sz="1400" dirty="0">
                <a:latin typeface="Times New Roman" panose="02020603050405020304" pitchFamily="18" charset="0"/>
                <a:cs typeface="Times New Roman" panose="02020603050405020304" pitchFamily="18" charset="0"/>
              </a:rPr>
              <a:t> is a microcontroller board developed by Arduino which is an open source electronics platform it is easy </a:t>
            </a:r>
            <a:r>
              <a:rPr lang="en-IN" sz="1400" dirty="0" smtClean="0">
                <a:latin typeface="Times New Roman" panose="02020603050405020304" pitchFamily="18" charset="0"/>
                <a:cs typeface="Times New Roman" panose="02020603050405020304" pitchFamily="18" charset="0"/>
              </a:rPr>
              <a:t>to </a:t>
            </a:r>
            <a:r>
              <a:rPr lang="en-IN" sz="1400" dirty="0">
                <a:latin typeface="Times New Roman" panose="02020603050405020304" pitchFamily="18" charset="0"/>
                <a:cs typeface="Times New Roman" panose="02020603050405020304" pitchFamily="18" charset="0"/>
              </a:rPr>
              <a:t>available and can be used easily. The Board Contains 14 Digital Input Output pins in which 6 are Analog pins, USB Connector, one Reset </a:t>
            </a:r>
            <a:r>
              <a:rPr lang="en-IN" sz="1400" dirty="0" smtClean="0">
                <a:latin typeface="Times New Roman" panose="02020603050405020304" pitchFamily="18" charset="0"/>
                <a:cs typeface="Times New Roman" panose="02020603050405020304" pitchFamily="18" charset="0"/>
              </a:rPr>
              <a:t>Button</a:t>
            </a:r>
            <a:r>
              <a:rPr lang="en-IN" sz="1400" dirty="0">
                <a:latin typeface="Times New Roman" panose="02020603050405020304" pitchFamily="18" charset="0"/>
                <a:cs typeface="Times New Roman" panose="02020603050405020304" pitchFamily="18" charset="0"/>
              </a:rPr>
              <a:t>, and other Components.                                                                            </a:t>
            </a:r>
          </a:p>
          <a:p>
            <a:pPr marL="742950" lvl="1" indent="-285750" algn="just">
              <a:lnSpc>
                <a:spcPct val="150000"/>
              </a:lnSpc>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 DHT11: </a:t>
            </a:r>
            <a:r>
              <a:rPr lang="en-US" sz="1400" dirty="0">
                <a:latin typeface="Times New Roman" panose="02020603050405020304" pitchFamily="18" charset="0"/>
                <a:cs typeface="Times New Roman" panose="02020603050405020304" pitchFamily="18" charset="0"/>
              </a:rPr>
              <a:t>the </a:t>
            </a:r>
            <a:r>
              <a:rPr lang="en-US" sz="1400" dirty="0" smtClean="0">
                <a:latin typeface="Times New Roman" panose="02020603050405020304" pitchFamily="18" charset="0"/>
                <a:cs typeface="Times New Roman" panose="02020603050405020304" pitchFamily="18" charset="0"/>
              </a:rPr>
              <a:t>DHT11 </a:t>
            </a:r>
            <a:r>
              <a:rPr lang="en-US" sz="1400" dirty="0">
                <a:latin typeface="Times New Roman" panose="02020603050405020304" pitchFamily="18" charset="0"/>
                <a:cs typeface="Times New Roman" panose="02020603050405020304" pitchFamily="18" charset="0"/>
              </a:rPr>
              <a:t>gives digital output. It is an extremely low cost, low power, ultra- small digital temperature and humidity sensor. Operating voltage: 3.5v-5.5v, operating current: </a:t>
            </a:r>
            <a:r>
              <a:rPr lang="en-US" sz="1400" dirty="0" smtClean="0">
                <a:latin typeface="Times New Roman" panose="02020603050405020304" pitchFamily="18" charset="0"/>
                <a:cs typeface="Times New Roman" panose="02020603050405020304" pitchFamily="18" charset="0"/>
              </a:rPr>
              <a:t>0.3mA.</a:t>
            </a:r>
            <a:endParaRPr lang="en-US" sz="1400" b="1" dirty="0">
              <a:latin typeface="Times New Roman" panose="02020603050405020304" pitchFamily="18" charset="0"/>
              <a:cs typeface="Times New Roman" panose="02020603050405020304" pitchFamily="18" charset="0"/>
            </a:endParaRPr>
          </a:p>
          <a:p>
            <a:pPr marL="800100" lvl="1" indent="-342900" algn="just">
              <a:lnSpc>
                <a:spcPct val="150000"/>
              </a:lnSpc>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MQ135: </a:t>
            </a:r>
            <a:r>
              <a:rPr lang="en-US" sz="1400" dirty="0">
                <a:latin typeface="Times New Roman" panose="02020603050405020304" pitchFamily="18" charset="0"/>
                <a:cs typeface="Times New Roman" panose="02020603050405020304" pitchFamily="18" charset="0"/>
              </a:rPr>
              <a:t>MQ135 is an air quality sensor that detects a wide variety of gases like Ammonia (NH3), Nitrogen oxide (NO2), Alcohol, Smoke, Carbon dioxide etc. it MQ135 Module operates at 5v and consumes around </a:t>
            </a:r>
            <a:r>
              <a:rPr lang="en-US" sz="1400" dirty="0" smtClean="0">
                <a:latin typeface="Times New Roman" panose="02020603050405020304" pitchFamily="18" charset="0"/>
                <a:cs typeface="Times New Roman" panose="02020603050405020304" pitchFamily="18" charset="0"/>
              </a:rPr>
              <a:t>150mA.</a:t>
            </a:r>
          </a:p>
          <a:p>
            <a:pPr marL="800100" lvl="1" indent="-342900">
              <a:lnSpc>
                <a:spcPct val="150000"/>
              </a:lnSpc>
              <a:buFont typeface="Arial" panose="020B0604020202020204" pitchFamily="34" charset="0"/>
              <a:buChar char="•"/>
            </a:pPr>
            <a:r>
              <a:rPr lang="en-US" sz="1400" b="1" dirty="0" smtClean="0">
                <a:latin typeface="Times New Roman" panose="02020603050405020304" pitchFamily="18" charset="0"/>
                <a:cs typeface="Times New Roman" panose="02020603050405020304" pitchFamily="18" charset="0"/>
              </a:rPr>
              <a:t>MQ5: </a:t>
            </a:r>
            <a:r>
              <a:rPr lang="en-US" sz="1400" dirty="0">
                <a:latin typeface="Times New Roman" panose="02020603050405020304" pitchFamily="18" charset="0"/>
                <a:cs typeface="Times New Roman" panose="02020603050405020304" pitchFamily="18" charset="0"/>
              </a:rPr>
              <a:t>MQ-5 is a gas sensor used to detect LPG, Methane, Propane, and Natural gas. It is commonly used in gas leakage detection systems. The sensor provides both analog and digital </a:t>
            </a:r>
            <a:r>
              <a:rPr lang="en-US" sz="1400" dirty="0" smtClean="0">
                <a:latin typeface="Times New Roman" panose="02020603050405020304" pitchFamily="18" charset="0"/>
                <a:cs typeface="Times New Roman" panose="02020603050405020304" pitchFamily="18" charset="0"/>
              </a:rPr>
              <a:t>outputs. Operating </a:t>
            </a:r>
            <a:r>
              <a:rPr lang="en-US" sz="1400" dirty="0">
                <a:latin typeface="Times New Roman" panose="02020603050405020304" pitchFamily="18" charset="0"/>
                <a:cs typeface="Times New Roman" panose="02020603050405020304" pitchFamily="18" charset="0"/>
              </a:rPr>
              <a:t>voltage: 5V, Preheat time required for accurate readings</a:t>
            </a:r>
            <a:r>
              <a:rPr lang="en-US" sz="1400" dirty="0" smtClean="0">
                <a:latin typeface="Times New Roman" panose="02020603050405020304" pitchFamily="18" charset="0"/>
                <a:cs typeface="Times New Roman" panose="02020603050405020304" pitchFamily="18" charset="0"/>
              </a:rPr>
              <a:t>.</a:t>
            </a:r>
            <a:endParaRPr lang="en-US" sz="1400" b="1" dirty="0" smtClean="0">
              <a:latin typeface="Times New Roman" panose="02020603050405020304" pitchFamily="18" charset="0"/>
              <a:cs typeface="Times New Roman" panose="02020603050405020304" pitchFamily="18" charset="0"/>
            </a:endParaRPr>
          </a:p>
          <a:p>
            <a:pPr marL="800100" lvl="1" indent="-342900">
              <a:lnSpc>
                <a:spcPct val="150000"/>
              </a:lnSpc>
              <a:buFont typeface="Arial" panose="020B0604020202020204" pitchFamily="34" charset="0"/>
              <a:buChar char="•"/>
            </a:pPr>
            <a:r>
              <a:rPr lang="en-US" sz="1400" b="1" dirty="0" smtClean="0">
                <a:latin typeface="Times New Roman" panose="02020603050405020304" pitchFamily="18" charset="0"/>
                <a:cs typeface="Times New Roman" panose="02020603050405020304" pitchFamily="18" charset="0"/>
              </a:rPr>
              <a:t>Dust Sensor: </a:t>
            </a:r>
            <a:r>
              <a:rPr lang="en-US" sz="1400" dirty="0">
                <a:latin typeface="Times New Roman" panose="02020603050405020304" pitchFamily="18" charset="0"/>
                <a:cs typeface="Times New Roman" panose="02020603050405020304" pitchFamily="18" charset="0"/>
              </a:rPr>
              <a:t>A dust sensor is used to detect particulate matter such as dust and smoke in the air. It works on the principle of light scattering to measure particle concentration. It is useful for monitoring air pollution levels and indoor air </a:t>
            </a:r>
            <a:r>
              <a:rPr lang="en-US" sz="1400" dirty="0" smtClean="0">
                <a:latin typeface="Times New Roman" panose="02020603050405020304" pitchFamily="18" charset="0"/>
                <a:cs typeface="Times New Roman" panose="02020603050405020304" pitchFamily="18" charset="0"/>
              </a:rPr>
              <a:t>quality. Operating </a:t>
            </a:r>
            <a:r>
              <a:rPr lang="en-US" sz="1400" dirty="0">
                <a:latin typeface="Times New Roman" panose="02020603050405020304" pitchFamily="18" charset="0"/>
                <a:cs typeface="Times New Roman" panose="02020603050405020304" pitchFamily="18" charset="0"/>
              </a:rPr>
              <a:t>voltage: typically 5V (varies by model), Provides analog output based on dust concentration.</a:t>
            </a:r>
          </a:p>
          <a:p>
            <a:pPr marL="800100" lvl="1" indent="-342900" algn="just">
              <a:lnSpc>
                <a:spcPct val="150000"/>
              </a:lnSpc>
              <a:buFont typeface="Arial" panose="020B0604020202020204" pitchFamily="34" charset="0"/>
              <a:buChar char="•"/>
            </a:pPr>
            <a:endParaRPr lang="en-US" sz="24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 xmlns:a16="http://schemas.microsoft.com/office/drawing/2014/main" id="{BF11F3A7-6865-43F4-8771-7BB67DA80654}"/>
              </a:ext>
            </a:extLst>
          </p:cNvPr>
          <p:cNvPicPr>
            <a:picLocks noChangeAspect="1"/>
          </p:cNvPicPr>
          <p:nvPr/>
        </p:nvPicPr>
        <p:blipFill>
          <a:blip r:embed="rId3"/>
          <a:stretch>
            <a:fillRect/>
          </a:stretch>
        </p:blipFill>
        <p:spPr>
          <a:xfrm>
            <a:off x="8111305" y="799981"/>
            <a:ext cx="3524765" cy="2478017"/>
          </a:xfrm>
          <a:prstGeom prst="rect">
            <a:avLst/>
          </a:prstGeom>
        </p:spPr>
      </p:pic>
      <p:sp>
        <p:nvSpPr>
          <p:cNvPr id="6" name="TextBox 5">
            <a:extLst>
              <a:ext uri="{FF2B5EF4-FFF2-40B4-BE49-F238E27FC236}">
                <a16:creationId xmlns="" xmlns:a16="http://schemas.microsoft.com/office/drawing/2014/main" id="{48796A11-42DF-4A8D-AE0E-A0900A51A4F1}"/>
              </a:ext>
            </a:extLst>
          </p:cNvPr>
          <p:cNvSpPr txBox="1"/>
          <p:nvPr/>
        </p:nvSpPr>
        <p:spPr>
          <a:xfrm>
            <a:off x="8498786" y="3362221"/>
            <a:ext cx="3524765" cy="584775"/>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Arduino Uno</a:t>
            </a:r>
          </a:p>
        </p:txBody>
      </p:sp>
      <p:sp>
        <p:nvSpPr>
          <p:cNvPr id="8" name="Rectangle 7"/>
          <p:cNvSpPr/>
          <p:nvPr/>
        </p:nvSpPr>
        <p:spPr>
          <a:xfrm>
            <a:off x="386478" y="430648"/>
            <a:ext cx="3557841" cy="461665"/>
          </a:xfrm>
          <a:prstGeom prst="rect">
            <a:avLst/>
          </a:prstGeom>
        </p:spPr>
        <p:txBody>
          <a:bodyPr wrap="square">
            <a:spAutoFit/>
          </a:bodyPr>
          <a:lstStyle/>
          <a:p>
            <a:r>
              <a:rPr lang="en-US" dirty="0"/>
              <a:t> </a:t>
            </a:r>
            <a:r>
              <a:rPr lang="en-US" sz="2400" b="1" dirty="0">
                <a:latin typeface="Times New Roman" panose="02020603050405020304" pitchFamily="18" charset="0"/>
                <a:cs typeface="Times New Roman" panose="02020603050405020304" pitchFamily="18" charset="0"/>
              </a:rPr>
              <a:t>Hardware Description</a:t>
            </a:r>
            <a:r>
              <a:rPr lang="en-US" b="1" dirty="0">
                <a:latin typeface="Times New Roman" panose="02020603050405020304" pitchFamily="18" charset="0"/>
                <a:cs typeface="Times New Roman" panose="02020603050405020304" pitchFamily="18" charset="0"/>
              </a:rPr>
              <a:t>:</a:t>
            </a:r>
            <a:endParaRPr lang="en-IN" dirty="0"/>
          </a:p>
        </p:txBody>
      </p:sp>
    </p:spTree>
    <p:extLst>
      <p:ext uri="{BB962C8B-B14F-4D97-AF65-F5344CB8AC3E}">
        <p14:creationId xmlns:p14="http://schemas.microsoft.com/office/powerpoint/2010/main" val="2271473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DEBA2AD8-34AC-4EA8-B620-E715B70FC0D0}"/>
              </a:ext>
            </a:extLst>
          </p:cNvPr>
          <p:cNvSpPr>
            <a:spLocks noGrp="1"/>
          </p:cNvSpPr>
          <p:nvPr>
            <p:ph type="dt" sz="half" idx="10"/>
          </p:nvPr>
        </p:nvSpPr>
        <p:spPr/>
        <p:txBody>
          <a:bodyPr/>
          <a:lstStyle/>
          <a:p>
            <a:r>
              <a:rPr lang="en-US" dirty="0"/>
              <a:t> </a:t>
            </a:r>
            <a:endParaRPr lang="en-IN" dirty="0"/>
          </a:p>
        </p:txBody>
      </p:sp>
      <p:sp>
        <p:nvSpPr>
          <p:cNvPr id="5" name="Footer Placeholder 4">
            <a:extLst>
              <a:ext uri="{FF2B5EF4-FFF2-40B4-BE49-F238E27FC236}">
                <a16:creationId xmlns="" xmlns:a16="http://schemas.microsoft.com/office/drawing/2014/main" id="{E1197FB4-B5AC-4297-804B-2FFBDFDF6840}"/>
              </a:ext>
            </a:extLst>
          </p:cNvPr>
          <p:cNvSpPr>
            <a:spLocks noGrp="1"/>
          </p:cNvSpPr>
          <p:nvPr>
            <p:ph type="ftr" sz="quarter" idx="11"/>
          </p:nvPr>
        </p:nvSpPr>
        <p:spPr/>
        <p:txBody>
          <a:bodyPr/>
          <a:lstStyle/>
          <a:p>
            <a:r>
              <a:rPr lang="en-IN" dirty="0"/>
              <a:t> </a:t>
            </a:r>
          </a:p>
        </p:txBody>
      </p:sp>
      <p:sp>
        <p:nvSpPr>
          <p:cNvPr id="3" name="Slide Number Placeholder 2">
            <a:extLst>
              <a:ext uri="{FF2B5EF4-FFF2-40B4-BE49-F238E27FC236}">
                <a16:creationId xmlns="" xmlns:a16="http://schemas.microsoft.com/office/drawing/2014/main" id="{D9F91A99-A8B3-418B-8EF2-A41CA3F39BC1}"/>
              </a:ext>
            </a:extLst>
          </p:cNvPr>
          <p:cNvSpPr>
            <a:spLocks noGrp="1"/>
          </p:cNvSpPr>
          <p:nvPr>
            <p:ph type="sldNum" sz="quarter" idx="12"/>
          </p:nvPr>
        </p:nvSpPr>
        <p:spPr/>
        <p:txBody>
          <a:bodyPr/>
          <a:lstStyle/>
          <a:p>
            <a:fld id="{ACE2F108-0A8D-40BD-9A9C-464734DAE4AE}" type="slidenum">
              <a:rPr lang="en-IN" smtClean="0"/>
              <a:t>11</a:t>
            </a:fld>
            <a:endParaRPr lang="en-IN"/>
          </a:p>
        </p:txBody>
      </p:sp>
      <p:sp>
        <p:nvSpPr>
          <p:cNvPr id="4" name="Rectangle 3"/>
          <p:cNvSpPr/>
          <p:nvPr/>
        </p:nvSpPr>
        <p:spPr>
          <a:xfrm>
            <a:off x="677333" y="454638"/>
            <a:ext cx="6527799" cy="523220"/>
          </a:xfrm>
          <a:prstGeom prst="rect">
            <a:avLst/>
          </a:prstGeom>
        </p:spPr>
        <p:txBody>
          <a:bodyPr wrap="square">
            <a:spAutoFit/>
          </a:bodyPr>
          <a:lstStyle/>
          <a:p>
            <a:pPr algn="just">
              <a:spcAft>
                <a:spcPts val="1036"/>
              </a:spcAft>
            </a:pPr>
            <a:r>
              <a:rPr lang="en-GB" sz="2800" b="1" spc="-1" dirty="0" smtClean="0">
                <a:solidFill>
                  <a:srgbClr val="1C1C1C"/>
                </a:solidFill>
                <a:latin typeface="Times New Roman" panose="02020603050405020304" pitchFamily="18" charset="0"/>
                <a:cs typeface="Times New Roman" panose="02020603050405020304" pitchFamily="18" charset="0"/>
              </a:rPr>
              <a:t>Hardware Design – Circuit Diagram</a:t>
            </a:r>
            <a:endParaRPr lang="en-GB" sz="2800" b="1" spc="-1" dirty="0">
              <a:solidFill>
                <a:srgbClr val="1C1C1C"/>
              </a:solidFill>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2168510" y="1238419"/>
            <a:ext cx="7293206" cy="4985505"/>
          </a:xfrm>
          <a:prstGeom prst="rect">
            <a:avLst/>
          </a:prstGeom>
        </p:spPr>
      </p:pic>
    </p:spTree>
    <p:extLst>
      <p:ext uri="{BB962C8B-B14F-4D97-AF65-F5344CB8AC3E}">
        <p14:creationId xmlns:p14="http://schemas.microsoft.com/office/powerpoint/2010/main" val="228982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F108E67-9AB1-2C44-9965-99760D0E3788}"/>
              </a:ext>
            </a:extLst>
          </p:cNvPr>
          <p:cNvSpPr>
            <a:spLocks noGrp="1"/>
          </p:cNvSpPr>
          <p:nvPr>
            <p:ph type="title"/>
          </p:nvPr>
        </p:nvSpPr>
        <p:spPr/>
        <p:txBody>
          <a:bodyPr/>
          <a:lstStyle/>
          <a:p>
            <a:r>
              <a:rPr lang="en-US" dirty="0"/>
              <a:t>Modules Used – Sensors </a:t>
            </a:r>
          </a:p>
        </p:txBody>
      </p:sp>
      <p:sp>
        <p:nvSpPr>
          <p:cNvPr id="3" name="Date Placeholder 2">
            <a:extLst>
              <a:ext uri="{FF2B5EF4-FFF2-40B4-BE49-F238E27FC236}">
                <a16:creationId xmlns="" xmlns:a16="http://schemas.microsoft.com/office/drawing/2014/main" id="{D213E6E2-C36B-43F8-B493-A93B1C0AA6C8}"/>
              </a:ext>
            </a:extLst>
          </p:cNvPr>
          <p:cNvSpPr>
            <a:spLocks noGrp="1"/>
          </p:cNvSpPr>
          <p:nvPr>
            <p:ph type="dt" sz="half" idx="10"/>
          </p:nvPr>
        </p:nvSpPr>
        <p:spPr/>
        <p:txBody>
          <a:bodyPr/>
          <a:lstStyle/>
          <a:p>
            <a:r>
              <a:rPr lang="en-US" dirty="0"/>
              <a:t> </a:t>
            </a:r>
            <a:endParaRPr lang="en-IN" dirty="0"/>
          </a:p>
        </p:txBody>
      </p:sp>
      <p:sp>
        <p:nvSpPr>
          <p:cNvPr id="6" name="Footer Placeholder 5">
            <a:extLst>
              <a:ext uri="{FF2B5EF4-FFF2-40B4-BE49-F238E27FC236}">
                <a16:creationId xmlns="" xmlns:a16="http://schemas.microsoft.com/office/drawing/2014/main" id="{8CC95227-CAC3-4787-AC42-ABCA3C2EA06A}"/>
              </a:ext>
            </a:extLst>
          </p:cNvPr>
          <p:cNvSpPr>
            <a:spLocks noGrp="1"/>
          </p:cNvSpPr>
          <p:nvPr>
            <p:ph type="ftr" sz="quarter" idx="11"/>
          </p:nvPr>
        </p:nvSpPr>
        <p:spPr/>
        <p:txBody>
          <a:bodyPr/>
          <a:lstStyle/>
          <a:p>
            <a:r>
              <a:rPr lang="en-IN" dirty="0"/>
              <a:t> </a:t>
            </a:r>
          </a:p>
        </p:txBody>
      </p:sp>
      <p:sp>
        <p:nvSpPr>
          <p:cNvPr id="11" name="Slide Number Placeholder 10">
            <a:extLst>
              <a:ext uri="{FF2B5EF4-FFF2-40B4-BE49-F238E27FC236}">
                <a16:creationId xmlns="" xmlns:a16="http://schemas.microsoft.com/office/drawing/2014/main" id="{5168E5A9-DAC2-6A48-B251-AE89A2D3D611}"/>
              </a:ext>
            </a:extLst>
          </p:cNvPr>
          <p:cNvSpPr>
            <a:spLocks noGrp="1"/>
          </p:cNvSpPr>
          <p:nvPr>
            <p:ph type="sldNum" sz="quarter" idx="12"/>
          </p:nvPr>
        </p:nvSpPr>
        <p:spPr/>
        <p:txBody>
          <a:bodyPr/>
          <a:lstStyle/>
          <a:p>
            <a:fld id="{4FAB73BC-B049-4115-A692-8D63A059BFB8}" type="slidenum">
              <a:rPr lang="en-US" smtClean="0"/>
              <a:pPr/>
              <a:t>12</a:t>
            </a:fld>
            <a:endParaRPr lang="en-US" dirty="0"/>
          </a:p>
        </p:txBody>
      </p:sp>
      <p:pic>
        <p:nvPicPr>
          <p:cNvPr id="4" name="Picture 3">
            <a:extLst>
              <a:ext uri="{FF2B5EF4-FFF2-40B4-BE49-F238E27FC236}">
                <a16:creationId xmlns="" xmlns:a16="http://schemas.microsoft.com/office/drawing/2014/main" id="{8F916511-59DB-9A45-85FA-D7DC0AF06433}"/>
              </a:ext>
            </a:extLst>
          </p:cNvPr>
          <p:cNvPicPr>
            <a:picLocks noChangeAspect="1"/>
          </p:cNvPicPr>
          <p:nvPr/>
        </p:nvPicPr>
        <p:blipFill>
          <a:blip r:embed="rId2"/>
          <a:stretch>
            <a:fillRect/>
          </a:stretch>
        </p:blipFill>
        <p:spPr>
          <a:xfrm>
            <a:off x="563091" y="2014194"/>
            <a:ext cx="2810304" cy="2283708"/>
          </a:xfrm>
          <a:prstGeom prst="rect">
            <a:avLst/>
          </a:prstGeom>
        </p:spPr>
      </p:pic>
      <p:sp>
        <p:nvSpPr>
          <p:cNvPr id="7" name="TextBox 6">
            <a:extLst>
              <a:ext uri="{FF2B5EF4-FFF2-40B4-BE49-F238E27FC236}">
                <a16:creationId xmlns="" xmlns:a16="http://schemas.microsoft.com/office/drawing/2014/main" id="{8A24D08C-9781-F142-9973-2C2121DC7341}"/>
              </a:ext>
            </a:extLst>
          </p:cNvPr>
          <p:cNvSpPr txBox="1"/>
          <p:nvPr/>
        </p:nvSpPr>
        <p:spPr>
          <a:xfrm>
            <a:off x="803189" y="4485503"/>
            <a:ext cx="2409568" cy="923330"/>
          </a:xfrm>
          <a:prstGeom prst="rect">
            <a:avLst/>
          </a:prstGeom>
          <a:noFill/>
        </p:spPr>
        <p:txBody>
          <a:bodyPr wrap="square" rtlCol="0">
            <a:spAutoFit/>
          </a:bodyPr>
          <a:lstStyle/>
          <a:p>
            <a:r>
              <a:rPr lang="en-US" b="1" dirty="0"/>
              <a:t>MQ -135:</a:t>
            </a:r>
          </a:p>
          <a:p>
            <a:r>
              <a:rPr lang="en-US" b="1" dirty="0"/>
              <a:t>Sensor for detecting General Air Quality</a:t>
            </a:r>
          </a:p>
        </p:txBody>
      </p:sp>
      <p:sp>
        <p:nvSpPr>
          <p:cNvPr id="9" name="TextBox 8">
            <a:extLst>
              <a:ext uri="{FF2B5EF4-FFF2-40B4-BE49-F238E27FC236}">
                <a16:creationId xmlns="" xmlns:a16="http://schemas.microsoft.com/office/drawing/2014/main" id="{0093D093-7160-524F-A298-19371A64092F}"/>
              </a:ext>
            </a:extLst>
          </p:cNvPr>
          <p:cNvSpPr txBox="1"/>
          <p:nvPr/>
        </p:nvSpPr>
        <p:spPr>
          <a:xfrm>
            <a:off x="4659839" y="4485502"/>
            <a:ext cx="2409568" cy="923330"/>
          </a:xfrm>
          <a:prstGeom prst="rect">
            <a:avLst/>
          </a:prstGeom>
          <a:noFill/>
        </p:spPr>
        <p:txBody>
          <a:bodyPr wrap="square" rtlCol="0">
            <a:spAutoFit/>
          </a:bodyPr>
          <a:lstStyle/>
          <a:p>
            <a:r>
              <a:rPr lang="en-US" b="1" dirty="0" smtClean="0"/>
              <a:t>MQ-5:</a:t>
            </a:r>
            <a:endParaRPr lang="en-US" b="1" dirty="0"/>
          </a:p>
          <a:p>
            <a:r>
              <a:rPr lang="en-US" b="1" dirty="0"/>
              <a:t>Sensor for detecting  Carbon Monoxide </a:t>
            </a:r>
          </a:p>
        </p:txBody>
      </p:sp>
      <p:sp>
        <p:nvSpPr>
          <p:cNvPr id="10" name="TextBox 9">
            <a:extLst>
              <a:ext uri="{FF2B5EF4-FFF2-40B4-BE49-F238E27FC236}">
                <a16:creationId xmlns="" xmlns:a16="http://schemas.microsoft.com/office/drawing/2014/main" id="{CDE55082-81F5-424D-9563-D01559D4FFF3}"/>
              </a:ext>
            </a:extLst>
          </p:cNvPr>
          <p:cNvSpPr txBox="1"/>
          <p:nvPr/>
        </p:nvSpPr>
        <p:spPr>
          <a:xfrm>
            <a:off x="8117072" y="4392512"/>
            <a:ext cx="3165032" cy="1200329"/>
          </a:xfrm>
          <a:prstGeom prst="rect">
            <a:avLst/>
          </a:prstGeom>
          <a:noFill/>
        </p:spPr>
        <p:txBody>
          <a:bodyPr wrap="square" rtlCol="0">
            <a:spAutoFit/>
          </a:bodyPr>
          <a:lstStyle/>
          <a:p>
            <a:r>
              <a:rPr lang="en-US" b="1" dirty="0"/>
              <a:t>Dust </a:t>
            </a:r>
            <a:r>
              <a:rPr lang="en-US" b="1" dirty="0" smtClean="0"/>
              <a:t>sensor:</a:t>
            </a:r>
          </a:p>
          <a:p>
            <a:r>
              <a:rPr lang="en-US" b="1" dirty="0" smtClean="0"/>
              <a:t>They </a:t>
            </a:r>
            <a:r>
              <a:rPr lang="en-US" b="1" dirty="0"/>
              <a:t>detect dust/PM2.5 particles in air using light scattering</a:t>
            </a:r>
          </a:p>
        </p:txBody>
      </p:sp>
      <p:pic>
        <p:nvPicPr>
          <p:cNvPr id="1026" name="Picture 2" descr="https://vishaworld.com/cdn/shop/products/DustSensorModule-GP2Y1010AU0F1.jpg?v=1625175756"/>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4618" t="21344" r="8456" b="22438"/>
          <a:stretch/>
        </p:blipFill>
        <p:spPr bwMode="auto">
          <a:xfrm>
            <a:off x="7661102" y="2309015"/>
            <a:ext cx="2332892" cy="170488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m.media-amazon.com/images/I/51XOa4ebi1L.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80507" y="2070816"/>
            <a:ext cx="2568815" cy="2414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4759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 xmlns:a16="http://schemas.microsoft.com/office/drawing/2014/main" id="{19714E77-92F6-403E-B8A5-AACB42F66344}"/>
              </a:ext>
            </a:extLst>
          </p:cNvPr>
          <p:cNvSpPr>
            <a:spLocks noGrp="1"/>
          </p:cNvSpPr>
          <p:nvPr>
            <p:ph type="ftr" sz="quarter" idx="11"/>
          </p:nvPr>
        </p:nvSpPr>
        <p:spPr/>
        <p:txBody>
          <a:bodyPr/>
          <a:lstStyle/>
          <a:p>
            <a:r>
              <a:rPr lang="en-IN" dirty="0"/>
              <a:t> </a:t>
            </a:r>
          </a:p>
        </p:txBody>
      </p:sp>
      <p:sp>
        <p:nvSpPr>
          <p:cNvPr id="3" name="Slide Number Placeholder 2">
            <a:extLst>
              <a:ext uri="{FF2B5EF4-FFF2-40B4-BE49-F238E27FC236}">
                <a16:creationId xmlns="" xmlns:a16="http://schemas.microsoft.com/office/drawing/2014/main" id="{D9F91A99-A8B3-418B-8EF2-A41CA3F39BC1}"/>
              </a:ext>
            </a:extLst>
          </p:cNvPr>
          <p:cNvSpPr>
            <a:spLocks noGrp="1"/>
          </p:cNvSpPr>
          <p:nvPr>
            <p:ph type="sldNum" sz="quarter" idx="12"/>
          </p:nvPr>
        </p:nvSpPr>
        <p:spPr/>
        <p:txBody>
          <a:bodyPr/>
          <a:lstStyle/>
          <a:p>
            <a:fld id="{ACE2F108-0A8D-40BD-9A9C-464734DAE4AE}" type="slidenum">
              <a:rPr lang="en-IN" smtClean="0"/>
              <a:t>13</a:t>
            </a:fld>
            <a:endParaRPr lang="en-IN" dirty="0"/>
          </a:p>
        </p:txBody>
      </p:sp>
      <p:sp>
        <p:nvSpPr>
          <p:cNvPr id="2" name="Rectangle 1">
            <a:extLst>
              <a:ext uri="{FF2B5EF4-FFF2-40B4-BE49-F238E27FC236}">
                <a16:creationId xmlns="" xmlns:a16="http://schemas.microsoft.com/office/drawing/2014/main" id="{53A10C1E-6C7F-48D3-B1C2-239F5461D0AE}"/>
              </a:ext>
            </a:extLst>
          </p:cNvPr>
          <p:cNvSpPr/>
          <p:nvPr/>
        </p:nvSpPr>
        <p:spPr>
          <a:xfrm>
            <a:off x="475822" y="348526"/>
            <a:ext cx="11508093" cy="584775"/>
          </a:xfrm>
          <a:prstGeom prst="rect">
            <a:avLst/>
          </a:prstGeom>
        </p:spPr>
        <p:txBody>
          <a:bodyPr wrap="square">
            <a:spAutoFit/>
          </a:bodyPr>
          <a:lstStyle/>
          <a:p>
            <a:pPr>
              <a:spcAft>
                <a:spcPts val="1036"/>
              </a:spcAft>
            </a:pPr>
            <a:r>
              <a:rPr lang="en-US" sz="3200" b="1" dirty="0" smtClean="0">
                <a:latin typeface="Times New Roman" panose="02020603050405020304" pitchFamily="18" charset="0"/>
                <a:cs typeface="Times New Roman" panose="02020603050405020304" pitchFamily="18" charset="0"/>
              </a:rPr>
              <a:t>Results</a:t>
            </a:r>
            <a:endParaRPr lang="en-US" sz="3200" b="1" dirty="0">
              <a:latin typeface="Times New Roman" panose="02020603050405020304" pitchFamily="18" charset="0"/>
              <a:cs typeface="Times New Roman" panose="02020603050405020304" pitchFamily="18" charset="0"/>
            </a:endParaRPr>
          </a:p>
        </p:txBody>
      </p:sp>
      <p:sp>
        <p:nvSpPr>
          <p:cNvPr id="8" name="Rectangle 7"/>
          <p:cNvSpPr/>
          <p:nvPr/>
        </p:nvSpPr>
        <p:spPr>
          <a:xfrm>
            <a:off x="447148" y="933302"/>
            <a:ext cx="6348860" cy="5758115"/>
          </a:xfrm>
          <a:prstGeom prst="rect">
            <a:avLst/>
          </a:prstGeom>
        </p:spPr>
        <p:txBody>
          <a:bodyPr wrap="square">
            <a:spAutoFit/>
          </a:bodyPr>
          <a:lstStyle/>
          <a:p>
            <a:pPr algn="just">
              <a:lnSpc>
                <a:spcPct val="107000"/>
              </a:lnSpc>
              <a:spcBef>
                <a:spcPts val="1200"/>
              </a:spcBef>
              <a:spcAft>
                <a:spcPts val="0"/>
              </a:spcAft>
            </a:pPr>
            <a:r>
              <a:rPr lang="en-IN" sz="1600" b="1" kern="0" dirty="0">
                <a:solidFill>
                  <a:srgbClr val="000000"/>
                </a:solidFill>
                <a:latin typeface="Inter Fallback"/>
                <a:ea typeface="Times New Roman" panose="02020603050405020304" pitchFamily="18" charset="0"/>
                <a:cs typeface="Times New Roman" panose="02020603050405020304" pitchFamily="18" charset="0"/>
              </a:rPr>
              <a:t>A. System Operation</a:t>
            </a:r>
            <a:endParaRPr lang="en-IN" sz="14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1200"/>
              </a:spcBef>
              <a:spcAft>
                <a:spcPts val="0"/>
              </a:spcAft>
            </a:pPr>
            <a:r>
              <a:rPr lang="en-IN" sz="1600" kern="0" dirty="0">
                <a:solidFill>
                  <a:srgbClr val="000000"/>
                </a:solidFill>
                <a:latin typeface="Inter Fallback"/>
                <a:ea typeface="Times New Roman" panose="02020603050405020304" pitchFamily="18" charset="0"/>
                <a:cs typeface="Times New Roman" panose="02020603050405020304" pitchFamily="18" charset="0"/>
              </a:rPr>
              <a:t>The system was tested under real-time conditions to validate its functionality. Upon power-on, the system performs the following sequence:</a:t>
            </a:r>
            <a:endParaRPr lang="en-IN" sz="1400"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300"/>
              </a:spcBef>
              <a:spcAft>
                <a:spcPts val="0"/>
              </a:spcAft>
              <a:tabLst>
                <a:tab pos="457200" algn="l"/>
              </a:tabLst>
            </a:pPr>
            <a:r>
              <a:rPr lang="en-IN" sz="1600" kern="0" dirty="0">
                <a:solidFill>
                  <a:srgbClr val="000000"/>
                </a:solidFill>
                <a:latin typeface="Inter Fallback"/>
                <a:ea typeface="Times New Roman" panose="02020603050405020304" pitchFamily="18" charset="0"/>
                <a:cs typeface="Times New Roman" panose="02020603050405020304" pitchFamily="18" charset="0"/>
              </a:rPr>
              <a:t>Initializes sensor modules and establishes Wi-Fi connectivity</a:t>
            </a:r>
            <a:endParaRPr lang="en-IN" sz="1400"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300"/>
              </a:spcBef>
              <a:spcAft>
                <a:spcPts val="0"/>
              </a:spcAft>
              <a:tabLst>
                <a:tab pos="457200" algn="l"/>
              </a:tabLst>
            </a:pPr>
            <a:r>
              <a:rPr lang="en-IN" sz="1600" kern="0" dirty="0">
                <a:solidFill>
                  <a:srgbClr val="000000"/>
                </a:solidFill>
                <a:latin typeface="Inter Fallback"/>
                <a:ea typeface="Times New Roman" panose="02020603050405020304" pitchFamily="18" charset="0"/>
                <a:cs typeface="Times New Roman" panose="02020603050405020304" pitchFamily="18" charset="0"/>
              </a:rPr>
              <a:t>Connects to the local network via mobile hotspot</a:t>
            </a:r>
            <a:endParaRPr lang="en-IN" sz="1400"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300"/>
              </a:spcBef>
              <a:spcAft>
                <a:spcPts val="0"/>
              </a:spcAft>
              <a:tabLst>
                <a:tab pos="457200" algn="l"/>
              </a:tabLst>
            </a:pPr>
            <a:r>
              <a:rPr lang="en-IN" sz="1600" kern="0" dirty="0">
                <a:solidFill>
                  <a:srgbClr val="000000"/>
                </a:solidFill>
                <a:latin typeface="Inter Fallback"/>
                <a:ea typeface="Times New Roman" panose="02020603050405020304" pitchFamily="18" charset="0"/>
                <a:cs typeface="Times New Roman" panose="02020603050405020304" pitchFamily="18" charset="0"/>
              </a:rPr>
              <a:t>Authenticates with the </a:t>
            </a:r>
            <a:r>
              <a:rPr lang="en-IN" sz="1600" kern="0" dirty="0" err="1">
                <a:solidFill>
                  <a:srgbClr val="000000"/>
                </a:solidFill>
                <a:latin typeface="Inter Fallback"/>
                <a:ea typeface="Times New Roman" panose="02020603050405020304" pitchFamily="18" charset="0"/>
                <a:cs typeface="Times New Roman" panose="02020603050405020304" pitchFamily="18" charset="0"/>
              </a:rPr>
              <a:t>ThingSpeak</a:t>
            </a:r>
            <a:r>
              <a:rPr lang="en-IN" sz="1600" kern="0" dirty="0">
                <a:solidFill>
                  <a:srgbClr val="000000"/>
                </a:solidFill>
                <a:latin typeface="Inter Fallback"/>
                <a:ea typeface="Times New Roman" panose="02020603050405020304" pitchFamily="18" charset="0"/>
                <a:cs typeface="Times New Roman" panose="02020603050405020304" pitchFamily="18" charset="0"/>
              </a:rPr>
              <a:t> platform</a:t>
            </a:r>
            <a:endParaRPr lang="en-IN" sz="1400"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300"/>
              </a:spcBef>
              <a:spcAft>
                <a:spcPts val="0"/>
              </a:spcAft>
              <a:tabLst>
                <a:tab pos="457200" algn="l"/>
              </a:tabLst>
            </a:pPr>
            <a:r>
              <a:rPr lang="en-IN" sz="1600" kern="0" dirty="0">
                <a:solidFill>
                  <a:srgbClr val="000000"/>
                </a:solidFill>
                <a:latin typeface="Inter Fallback"/>
                <a:ea typeface="Times New Roman" panose="02020603050405020304" pitchFamily="18" charset="0"/>
                <a:cs typeface="Times New Roman" panose="02020603050405020304" pitchFamily="18" charset="0"/>
              </a:rPr>
              <a:t>Begins continuous data acquisition and transmission</a:t>
            </a:r>
            <a:endParaRPr lang="en-IN" sz="14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1200"/>
              </a:spcBef>
              <a:spcAft>
                <a:spcPts val="0"/>
              </a:spcAft>
            </a:pPr>
            <a:r>
              <a:rPr lang="en-IN" sz="1600" b="1" kern="0" dirty="0">
                <a:solidFill>
                  <a:srgbClr val="000000"/>
                </a:solidFill>
                <a:latin typeface="Inter Fallback"/>
                <a:ea typeface="Times New Roman" panose="02020603050405020304" pitchFamily="18" charset="0"/>
                <a:cs typeface="Times New Roman" panose="02020603050405020304" pitchFamily="18" charset="0"/>
              </a:rPr>
              <a:t>B. Data Visualization</a:t>
            </a:r>
            <a:endParaRPr lang="en-IN" sz="14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1200"/>
              </a:spcBef>
              <a:spcAft>
                <a:spcPts val="0"/>
              </a:spcAft>
            </a:pPr>
            <a:r>
              <a:rPr lang="en-IN" sz="1600" kern="0" dirty="0">
                <a:solidFill>
                  <a:srgbClr val="000000"/>
                </a:solidFill>
                <a:latin typeface="Inter Fallback"/>
                <a:ea typeface="Times New Roman" panose="02020603050405020304" pitchFamily="18" charset="0"/>
                <a:cs typeface="Times New Roman" panose="02020603050405020304" pitchFamily="18" charset="0"/>
              </a:rPr>
              <a:t>The </a:t>
            </a:r>
            <a:r>
              <a:rPr lang="en-IN" sz="1600" kern="0" dirty="0" err="1">
                <a:solidFill>
                  <a:srgbClr val="000000"/>
                </a:solidFill>
                <a:latin typeface="Inter Fallback"/>
                <a:ea typeface="Times New Roman" panose="02020603050405020304" pitchFamily="18" charset="0"/>
                <a:cs typeface="Times New Roman" panose="02020603050405020304" pitchFamily="18" charset="0"/>
              </a:rPr>
              <a:t>ThingSpeak</a:t>
            </a:r>
            <a:r>
              <a:rPr lang="en-IN" sz="1600" kern="0" dirty="0">
                <a:solidFill>
                  <a:srgbClr val="000000"/>
                </a:solidFill>
                <a:latin typeface="Inter Fallback"/>
                <a:ea typeface="Times New Roman" panose="02020603050405020304" pitchFamily="18" charset="0"/>
                <a:cs typeface="Times New Roman" panose="02020603050405020304" pitchFamily="18" charset="0"/>
              </a:rPr>
              <a:t> dashboard displays four graphical plots representing:</a:t>
            </a:r>
            <a:endParaRPr lang="en-IN" sz="1400"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300"/>
              </a:spcBef>
              <a:spcAft>
                <a:spcPts val="0"/>
              </a:spcAft>
              <a:buSzPts val="1000"/>
              <a:buFont typeface="Symbol" panose="05050102010706020507" pitchFamily="18" charset="2"/>
              <a:buChar char=""/>
              <a:tabLst>
                <a:tab pos="457200" algn="l"/>
              </a:tabLst>
            </a:pPr>
            <a:r>
              <a:rPr lang="en-IN" sz="1600" kern="0" dirty="0">
                <a:solidFill>
                  <a:srgbClr val="000000"/>
                </a:solidFill>
                <a:latin typeface="Inter Fallback"/>
                <a:ea typeface="Times New Roman" panose="02020603050405020304" pitchFamily="18" charset="0"/>
                <a:cs typeface="Times New Roman" panose="02020603050405020304" pitchFamily="18" charset="0"/>
              </a:rPr>
              <a:t>Methane concentration (ppm) versus time</a:t>
            </a:r>
            <a:endParaRPr lang="en-IN" sz="1400" kern="1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300"/>
              </a:spcBef>
              <a:spcAft>
                <a:spcPts val="0"/>
              </a:spcAft>
              <a:buSzPts val="1000"/>
              <a:buFont typeface="Symbol" panose="05050102010706020507" pitchFamily="18" charset="2"/>
              <a:buChar char=""/>
              <a:tabLst>
                <a:tab pos="457200" algn="l"/>
              </a:tabLst>
            </a:pPr>
            <a:r>
              <a:rPr lang="en-IN" sz="1600" kern="0" dirty="0">
                <a:solidFill>
                  <a:srgbClr val="000000"/>
                </a:solidFill>
                <a:latin typeface="Inter Fallback"/>
                <a:ea typeface="Times New Roman" panose="02020603050405020304" pitchFamily="18" charset="0"/>
                <a:cs typeface="Times New Roman" panose="02020603050405020304" pitchFamily="18" charset="0"/>
              </a:rPr>
              <a:t>Carbon monoxide and ethanol concentration (ppm) versus time</a:t>
            </a:r>
            <a:endParaRPr lang="en-IN" sz="1400" kern="1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300"/>
              </a:spcBef>
              <a:spcAft>
                <a:spcPts val="0"/>
              </a:spcAft>
              <a:buSzPts val="1000"/>
              <a:buFont typeface="Symbol" panose="05050102010706020507" pitchFamily="18" charset="2"/>
              <a:buChar char=""/>
              <a:tabLst>
                <a:tab pos="457200" algn="l"/>
              </a:tabLst>
            </a:pPr>
            <a:r>
              <a:rPr lang="en-IN" sz="1600" kern="0" dirty="0">
                <a:solidFill>
                  <a:srgbClr val="000000"/>
                </a:solidFill>
                <a:latin typeface="Inter Fallback"/>
                <a:ea typeface="Times New Roman" panose="02020603050405020304" pitchFamily="18" charset="0"/>
                <a:cs typeface="Times New Roman" panose="02020603050405020304" pitchFamily="18" charset="0"/>
              </a:rPr>
              <a:t>Ammonia concentration (ppm) versus time</a:t>
            </a:r>
            <a:endParaRPr lang="en-IN" sz="1400" kern="1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300"/>
              </a:spcBef>
              <a:spcAft>
                <a:spcPts val="0"/>
              </a:spcAft>
              <a:buSzPts val="1000"/>
              <a:buFont typeface="Symbol" panose="05050102010706020507" pitchFamily="18" charset="2"/>
              <a:buChar char=""/>
              <a:tabLst>
                <a:tab pos="457200" algn="l"/>
              </a:tabLst>
            </a:pPr>
            <a:r>
              <a:rPr lang="en-IN" sz="1600" kern="0" dirty="0">
                <a:solidFill>
                  <a:srgbClr val="000000"/>
                </a:solidFill>
                <a:latin typeface="Inter Fallback"/>
                <a:ea typeface="Times New Roman" panose="02020603050405020304" pitchFamily="18" charset="0"/>
                <a:cs typeface="Times New Roman" panose="02020603050405020304" pitchFamily="18" charset="0"/>
              </a:rPr>
              <a:t>Temperature (°C) and humidity (%) versus time</a:t>
            </a:r>
            <a:endParaRPr lang="en-IN" sz="1400" kern="1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1200"/>
              </a:spcBef>
              <a:spcAft>
                <a:spcPts val="0"/>
              </a:spcAft>
            </a:pPr>
            <a:r>
              <a:rPr lang="en-IN" sz="1600" kern="0" dirty="0">
                <a:solidFill>
                  <a:srgbClr val="000000"/>
                </a:solidFill>
                <a:latin typeface="Inter Fallback"/>
                <a:ea typeface="Times New Roman" panose="02020603050405020304" pitchFamily="18" charset="0"/>
                <a:cs typeface="Times New Roman" panose="02020603050405020304" pitchFamily="18" charset="0"/>
              </a:rPr>
              <a:t>The system also supports geolocation tagging by specifying latitude and longitude coordinates, enabling location-specific data presentation</a:t>
            </a:r>
            <a:r>
              <a:rPr lang="en-IN" sz="1600" kern="0" dirty="0" smtClean="0">
                <a:solidFill>
                  <a:srgbClr val="000000"/>
                </a:solidFill>
                <a:latin typeface="Inter Fallback"/>
                <a:ea typeface="Times New Roman" panose="02020603050405020304" pitchFamily="18" charset="0"/>
                <a:cs typeface="Times New Roman" panose="02020603050405020304" pitchFamily="18" charset="0"/>
              </a:rPr>
              <a:t>.</a:t>
            </a:r>
            <a:endParaRPr lang="en-IN" sz="1400" kern="1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3074" name="Picture 28" descr="WhatsApp Image 2026-03-26 at 23.06.3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85112" y="1614515"/>
            <a:ext cx="5417241" cy="1727758"/>
          </a:xfrm>
          <a:prstGeom prst="rect">
            <a:avLst/>
          </a:prstGeom>
          <a:noFill/>
          <a:extLst>
            <a:ext uri="{909E8E84-426E-40DD-AFC4-6F175D3DCCD1}">
              <a14:hiddenFill xmlns:a14="http://schemas.microsoft.com/office/drawing/2010/main">
                <a:solidFill>
                  <a:srgbClr val="FFFFFF"/>
                </a:solidFill>
              </a14:hiddenFill>
            </a:ext>
          </a:extLst>
        </p:spPr>
      </p:pic>
      <p:pic>
        <p:nvPicPr>
          <p:cNvPr id="3073" name="Picture 10" descr="WhatsApp Image 2026-03-26 at 23.06.5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93137" y="3375656"/>
            <a:ext cx="5420112" cy="17125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3"/>
          <p:cNvSpPr>
            <a:spLocks noChangeArrowheads="1"/>
          </p:cNvSpPr>
          <p:nvPr/>
        </p:nvSpPr>
        <p:spPr bwMode="auto">
          <a:xfrm>
            <a:off x="6796008" y="69743"/>
            <a:ext cx="12192000"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2" name="Rectangle 4"/>
          <p:cNvSpPr>
            <a:spLocks noChangeArrowheads="1"/>
          </p:cNvSpPr>
          <p:nvPr/>
        </p:nvSpPr>
        <p:spPr bwMode="auto">
          <a:xfrm>
            <a:off x="6796008" y="2355743"/>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3" name="Rectangle 5"/>
          <p:cNvSpPr>
            <a:spLocks noChangeArrowheads="1"/>
          </p:cNvSpPr>
          <p:nvPr/>
        </p:nvSpPr>
        <p:spPr bwMode="auto">
          <a:xfrm>
            <a:off x="6796008" y="4165493"/>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28011266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CE2F108-0A8D-40BD-9A9C-464734DAE4AE}" type="slidenum">
              <a:rPr lang="en-IN" smtClean="0"/>
              <a:t>14</a:t>
            </a:fld>
            <a:endParaRPr lang="en-IN"/>
          </a:p>
        </p:txBody>
      </p:sp>
      <p:sp>
        <p:nvSpPr>
          <p:cNvPr id="5" name="Rectangle 4"/>
          <p:cNvSpPr/>
          <p:nvPr/>
        </p:nvSpPr>
        <p:spPr>
          <a:xfrm>
            <a:off x="302217" y="348712"/>
            <a:ext cx="9500461" cy="4418133"/>
          </a:xfrm>
          <a:prstGeom prst="rect">
            <a:avLst/>
          </a:prstGeom>
        </p:spPr>
        <p:txBody>
          <a:bodyPr wrap="square">
            <a:spAutoFit/>
          </a:bodyPr>
          <a:lstStyle/>
          <a:p>
            <a:pPr algn="just">
              <a:lnSpc>
                <a:spcPct val="107000"/>
              </a:lnSpc>
              <a:spcBef>
                <a:spcPts val="1200"/>
              </a:spcBef>
              <a:spcAft>
                <a:spcPts val="0"/>
              </a:spcAft>
            </a:pPr>
            <a:r>
              <a:rPr lang="en-IN" b="1" kern="0" dirty="0">
                <a:solidFill>
                  <a:srgbClr val="000000"/>
                </a:solidFill>
                <a:latin typeface="Inter Fallback"/>
                <a:ea typeface="Times New Roman" panose="02020603050405020304" pitchFamily="18" charset="0"/>
                <a:cs typeface="Times New Roman" panose="02020603050405020304" pitchFamily="18" charset="0"/>
              </a:rPr>
              <a:t>C. Performance Analysis</a:t>
            </a:r>
            <a:endParaRPr lang="en-IN" sz="14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1200"/>
              </a:spcBef>
              <a:spcAft>
                <a:spcPts val="0"/>
              </a:spcAft>
            </a:pPr>
            <a:r>
              <a:rPr lang="en-IN" kern="0" dirty="0">
                <a:solidFill>
                  <a:srgbClr val="000000"/>
                </a:solidFill>
                <a:latin typeface="Inter Fallback"/>
                <a:ea typeface="Times New Roman" panose="02020603050405020304" pitchFamily="18" charset="0"/>
                <a:cs typeface="Times New Roman" panose="02020603050405020304" pitchFamily="18" charset="0"/>
              </a:rPr>
              <a:t>Experimental results demonstrate:</a:t>
            </a:r>
            <a:endParaRPr lang="en-IN" sz="1400"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300"/>
              </a:spcBef>
              <a:spcAft>
                <a:spcPts val="0"/>
              </a:spcAft>
              <a:buSzPts val="1000"/>
              <a:buFont typeface="Symbol" panose="05050102010706020507" pitchFamily="18" charset="2"/>
              <a:buChar char=""/>
              <a:tabLst>
                <a:tab pos="457200" algn="l"/>
              </a:tabLst>
            </a:pPr>
            <a:r>
              <a:rPr lang="en-IN" kern="0" dirty="0">
                <a:solidFill>
                  <a:srgbClr val="000000"/>
                </a:solidFill>
                <a:latin typeface="Inter Fallback"/>
                <a:ea typeface="Times New Roman" panose="02020603050405020304" pitchFamily="18" charset="0"/>
                <a:cs typeface="Times New Roman" panose="02020603050405020304" pitchFamily="18" charset="0"/>
              </a:rPr>
              <a:t>Reliable sensor data acquisition with consistent readings</a:t>
            </a:r>
            <a:endParaRPr lang="en-IN" sz="1400" kern="1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300"/>
              </a:spcBef>
              <a:spcAft>
                <a:spcPts val="0"/>
              </a:spcAft>
              <a:buSzPts val="1000"/>
              <a:buFont typeface="Symbol" panose="05050102010706020507" pitchFamily="18" charset="2"/>
              <a:buChar char=""/>
              <a:tabLst>
                <a:tab pos="457200" algn="l"/>
              </a:tabLst>
            </a:pPr>
            <a:r>
              <a:rPr lang="en-IN" kern="0" dirty="0">
                <a:solidFill>
                  <a:srgbClr val="000000"/>
                </a:solidFill>
                <a:latin typeface="Inter Fallback"/>
                <a:ea typeface="Times New Roman" panose="02020603050405020304" pitchFamily="18" charset="0"/>
                <a:cs typeface="Times New Roman" panose="02020603050405020304" pitchFamily="18" charset="0"/>
              </a:rPr>
              <a:t>Stable Wi-Fi connectivity and successful data transmission</a:t>
            </a:r>
            <a:endParaRPr lang="en-IN" sz="1400" kern="1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300"/>
              </a:spcBef>
              <a:spcAft>
                <a:spcPts val="0"/>
              </a:spcAft>
              <a:buSzPts val="1000"/>
              <a:buFont typeface="Symbol" panose="05050102010706020507" pitchFamily="18" charset="2"/>
              <a:buChar char=""/>
              <a:tabLst>
                <a:tab pos="457200" algn="l"/>
              </a:tabLst>
            </a:pPr>
            <a:r>
              <a:rPr lang="en-IN" kern="0" dirty="0">
                <a:solidFill>
                  <a:srgbClr val="000000"/>
                </a:solidFill>
                <a:latin typeface="Inter Fallback"/>
                <a:ea typeface="Times New Roman" panose="02020603050405020304" pitchFamily="18" charset="0"/>
                <a:cs typeface="Times New Roman" panose="02020603050405020304" pitchFamily="18" charset="0"/>
              </a:rPr>
              <a:t>Real-time visualization with minimal latency</a:t>
            </a:r>
            <a:endParaRPr lang="en-IN" sz="1400" kern="1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300"/>
              </a:spcBef>
              <a:spcAft>
                <a:spcPts val="0"/>
              </a:spcAft>
              <a:buSzPts val="1000"/>
              <a:buFont typeface="Symbol" panose="05050102010706020507" pitchFamily="18" charset="2"/>
              <a:buChar char=""/>
              <a:tabLst>
                <a:tab pos="457200" algn="l"/>
              </a:tabLst>
            </a:pPr>
            <a:r>
              <a:rPr lang="en-IN" kern="0" dirty="0">
                <a:solidFill>
                  <a:srgbClr val="000000"/>
                </a:solidFill>
                <a:latin typeface="Inter Fallback"/>
                <a:ea typeface="Times New Roman" panose="02020603050405020304" pitchFamily="18" charset="0"/>
                <a:cs typeface="Times New Roman" panose="02020603050405020304" pitchFamily="18" charset="0"/>
              </a:rPr>
              <a:t>Effective alert triggering when threshold values are exceeded</a:t>
            </a:r>
            <a:endParaRPr lang="en-IN" sz="1400" kern="1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1200"/>
              </a:spcBef>
              <a:spcAft>
                <a:spcPts val="0"/>
              </a:spcAft>
            </a:pPr>
            <a:r>
              <a:rPr lang="en-IN" kern="0" dirty="0">
                <a:solidFill>
                  <a:srgbClr val="000000"/>
                </a:solidFill>
                <a:latin typeface="Inter Fallback"/>
                <a:ea typeface="Times New Roman" panose="02020603050405020304" pitchFamily="18" charset="0"/>
                <a:cs typeface="Times New Roman" panose="02020603050405020304" pitchFamily="18" charset="0"/>
              </a:rPr>
              <a:t>The graphical plots clearly show variations in environmental parameters over time, enabling users to identify trends and anomalies in air quality conditions.</a:t>
            </a:r>
            <a:endParaRPr lang="en-IN" sz="14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1200"/>
              </a:spcBef>
              <a:spcAft>
                <a:spcPts val="0"/>
              </a:spcAft>
            </a:pPr>
            <a:r>
              <a:rPr lang="en-IN" b="1" kern="0" dirty="0">
                <a:solidFill>
                  <a:srgbClr val="000000"/>
                </a:solidFill>
                <a:latin typeface="Inter Fallback"/>
                <a:ea typeface="Times New Roman" panose="02020603050405020304" pitchFamily="18" charset="0"/>
                <a:cs typeface="Times New Roman" panose="02020603050405020304" pitchFamily="18" charset="0"/>
              </a:rPr>
              <a:t>D. Alert Mechanism Validation</a:t>
            </a:r>
            <a:endParaRPr lang="en-IN" sz="14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1200"/>
              </a:spcBef>
              <a:spcAft>
                <a:spcPts val="0"/>
              </a:spcAft>
            </a:pPr>
            <a:r>
              <a:rPr lang="en-IN" kern="0" dirty="0">
                <a:solidFill>
                  <a:srgbClr val="000000"/>
                </a:solidFill>
                <a:latin typeface="Inter Fallback"/>
                <a:ea typeface="Times New Roman" panose="02020603050405020304" pitchFamily="18" charset="0"/>
                <a:cs typeface="Times New Roman" panose="02020603050405020304" pitchFamily="18" charset="0"/>
              </a:rPr>
              <a:t>The alert system was tested by exposing sensors to elevated gas concentrations. When pollutant levels exceeded predefined thresholds, the buzzer activated and LED indicators illuminated, providing immediate user notification. </a:t>
            </a:r>
            <a:endParaRPr lang="en-IN" sz="1400" kern="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17177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CE2F108-0A8D-40BD-9A9C-464734DAE4AE}" type="slidenum">
              <a:rPr lang="en-IN" smtClean="0"/>
              <a:t>15</a:t>
            </a:fld>
            <a:endParaRPr lang="en-IN"/>
          </a:p>
        </p:txBody>
      </p:sp>
      <p:sp>
        <p:nvSpPr>
          <p:cNvPr id="5" name="Rectangle 4"/>
          <p:cNvSpPr/>
          <p:nvPr/>
        </p:nvSpPr>
        <p:spPr>
          <a:xfrm>
            <a:off x="463493" y="526826"/>
            <a:ext cx="8810509" cy="4875181"/>
          </a:xfrm>
          <a:prstGeom prst="rect">
            <a:avLst/>
          </a:prstGeom>
        </p:spPr>
        <p:txBody>
          <a:bodyPr wrap="square">
            <a:spAutoFit/>
          </a:bodyPr>
          <a:lstStyle/>
          <a:p>
            <a:pPr algn="just">
              <a:lnSpc>
                <a:spcPct val="120000"/>
              </a:lnSpc>
            </a:pPr>
            <a:r>
              <a:rPr lang="en-US" altLang="en-US" sz="3200" b="1" dirty="0" smtClean="0">
                <a:latin typeface="Times New Roman" panose="02020603050405020304" pitchFamily="18" charset="0"/>
                <a:ea typeface="Calibri" panose="020F0502020204030204" pitchFamily="34" charset="0"/>
                <a:cs typeface="Times New Roman" panose="02020603050405020304" pitchFamily="18" charset="0"/>
              </a:rPr>
              <a:t>Applications</a:t>
            </a:r>
          </a:p>
          <a:p>
            <a:pPr algn="just">
              <a:lnSpc>
                <a:spcPct val="120000"/>
              </a:lnSpc>
            </a:pPr>
            <a:endParaRPr lang="en-US" altLang="en-US" sz="3200" dirty="0" smtClean="0">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altLang="en-US" sz="2400" dirty="0" smtClean="0">
                <a:latin typeface="Times New Roman" panose="02020603050405020304" pitchFamily="18" charset="0"/>
                <a:ea typeface="Calibri" panose="020F0502020204030204" pitchFamily="34" charset="0"/>
                <a:cs typeface="Times New Roman" panose="02020603050405020304" pitchFamily="18" charset="0"/>
              </a:rPr>
              <a:t>Air </a:t>
            </a:r>
            <a:r>
              <a:rPr lang="en-US" altLang="en-US" sz="2400" dirty="0">
                <a:latin typeface="Times New Roman" panose="02020603050405020304" pitchFamily="18" charset="0"/>
                <a:ea typeface="Calibri" panose="020F0502020204030204" pitchFamily="34" charset="0"/>
                <a:cs typeface="Times New Roman" panose="02020603050405020304" pitchFamily="18" charset="0"/>
              </a:rPr>
              <a:t>quality Management</a:t>
            </a:r>
          </a:p>
          <a:p>
            <a:pPr marL="342900" indent="-342900" algn="just">
              <a:lnSpc>
                <a:spcPct val="150000"/>
              </a:lnSpc>
              <a:buFont typeface="Arial" panose="020B0604020202020204" pitchFamily="34" charset="0"/>
              <a:buChar char="•"/>
            </a:pPr>
            <a:r>
              <a:rPr lang="en-US" altLang="en-US" sz="2400" dirty="0">
                <a:latin typeface="Times New Roman" panose="02020603050405020304" pitchFamily="18" charset="0"/>
                <a:ea typeface="Calibri" panose="020F0502020204030204" pitchFamily="34" charset="0"/>
                <a:cs typeface="Times New Roman" panose="02020603050405020304" pitchFamily="18" charset="0"/>
              </a:rPr>
              <a:t>Healthcare</a:t>
            </a:r>
          </a:p>
          <a:p>
            <a:pPr marL="342900" indent="-342900" algn="just">
              <a:lnSpc>
                <a:spcPct val="150000"/>
              </a:lnSpc>
              <a:buFont typeface="Arial" panose="020B0604020202020204" pitchFamily="34" charset="0"/>
              <a:buChar char="•"/>
            </a:pPr>
            <a:r>
              <a:rPr lang="en-US" altLang="en-US" sz="2400" dirty="0">
                <a:latin typeface="Times New Roman" panose="02020603050405020304" pitchFamily="18" charset="0"/>
                <a:ea typeface="Calibri" panose="020F0502020204030204" pitchFamily="34" charset="0"/>
                <a:cs typeface="Times New Roman" panose="02020603050405020304" pitchFamily="18" charset="0"/>
              </a:rPr>
              <a:t>Agriculture</a:t>
            </a:r>
          </a:p>
          <a:p>
            <a:pPr marL="342900" indent="-342900" algn="just">
              <a:lnSpc>
                <a:spcPct val="150000"/>
              </a:lnSpc>
              <a:buFont typeface="Arial" panose="020B0604020202020204" pitchFamily="34" charset="0"/>
              <a:buChar char="•"/>
            </a:pPr>
            <a:r>
              <a:rPr lang="en-US" altLang="en-US" sz="2400" dirty="0">
                <a:latin typeface="Times New Roman" panose="02020603050405020304" pitchFamily="18" charset="0"/>
                <a:ea typeface="Calibri" panose="020F0502020204030204" pitchFamily="34" charset="0"/>
                <a:cs typeface="Times New Roman" panose="02020603050405020304" pitchFamily="18" charset="0"/>
              </a:rPr>
              <a:t>Industrial operations</a:t>
            </a:r>
          </a:p>
          <a:p>
            <a:pPr marL="342900" indent="-342900" algn="just">
              <a:lnSpc>
                <a:spcPct val="150000"/>
              </a:lnSpc>
              <a:buFont typeface="Arial" panose="020B0604020202020204" pitchFamily="34" charset="0"/>
              <a:buChar char="•"/>
            </a:pPr>
            <a:r>
              <a:rPr lang="en-US" altLang="en-US" sz="2400" dirty="0">
                <a:latin typeface="Times New Roman" panose="02020603050405020304" pitchFamily="18" charset="0"/>
                <a:ea typeface="Calibri" panose="020F0502020204030204" pitchFamily="34" charset="0"/>
                <a:cs typeface="Times New Roman" panose="02020603050405020304" pitchFamily="18" charset="0"/>
              </a:rPr>
              <a:t>Outdoor Activities</a:t>
            </a:r>
          </a:p>
          <a:p>
            <a:pPr marL="342900" indent="-342900" algn="just">
              <a:lnSpc>
                <a:spcPct val="150000"/>
              </a:lnSpc>
              <a:buFont typeface="Arial" panose="020B0604020202020204" pitchFamily="34" charset="0"/>
              <a:buChar char="•"/>
            </a:pPr>
            <a:r>
              <a:rPr lang="en-US" altLang="en-US" sz="2400" dirty="0">
                <a:latin typeface="Times New Roman" panose="02020603050405020304" pitchFamily="18" charset="0"/>
                <a:ea typeface="Calibri" panose="020F0502020204030204" pitchFamily="34" charset="0"/>
                <a:cs typeface="Times New Roman" panose="02020603050405020304" pitchFamily="18" charset="0"/>
              </a:rPr>
              <a:t>Public Awareness and Education</a:t>
            </a:r>
            <a:endParaRPr lang="en-IN" altLang="en-US" sz="2400" dirty="0">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1127849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 xmlns:a16="http://schemas.microsoft.com/office/drawing/2014/main" id="{D82FA62F-8B99-4AAF-95F1-6CAF66DA50B2}"/>
              </a:ext>
            </a:extLst>
          </p:cNvPr>
          <p:cNvSpPr>
            <a:spLocks noGrp="1"/>
          </p:cNvSpPr>
          <p:nvPr>
            <p:ph type="dt" sz="half" idx="10"/>
          </p:nvPr>
        </p:nvSpPr>
        <p:spPr/>
        <p:txBody>
          <a:bodyPr/>
          <a:lstStyle/>
          <a:p>
            <a:r>
              <a:rPr lang="en-US" dirty="0"/>
              <a:t> </a:t>
            </a:r>
            <a:endParaRPr lang="en-IN" dirty="0"/>
          </a:p>
        </p:txBody>
      </p:sp>
      <p:sp>
        <p:nvSpPr>
          <p:cNvPr id="5" name="Footer Placeholder 4">
            <a:extLst>
              <a:ext uri="{FF2B5EF4-FFF2-40B4-BE49-F238E27FC236}">
                <a16:creationId xmlns="" xmlns:a16="http://schemas.microsoft.com/office/drawing/2014/main" id="{6A7B206A-899C-4A2A-B8A4-D9BF6A2FACE0}"/>
              </a:ext>
            </a:extLst>
          </p:cNvPr>
          <p:cNvSpPr>
            <a:spLocks noGrp="1"/>
          </p:cNvSpPr>
          <p:nvPr>
            <p:ph type="ftr" sz="quarter" idx="11"/>
          </p:nvPr>
        </p:nvSpPr>
        <p:spPr/>
        <p:txBody>
          <a:bodyPr/>
          <a:lstStyle/>
          <a:p>
            <a:r>
              <a:rPr lang="en-IN" dirty="0"/>
              <a:t> </a:t>
            </a:r>
          </a:p>
        </p:txBody>
      </p:sp>
      <p:sp>
        <p:nvSpPr>
          <p:cNvPr id="3" name="Slide Number Placeholder 2">
            <a:extLst>
              <a:ext uri="{FF2B5EF4-FFF2-40B4-BE49-F238E27FC236}">
                <a16:creationId xmlns="" xmlns:a16="http://schemas.microsoft.com/office/drawing/2014/main" id="{D9F91A99-A8B3-418B-8EF2-A41CA3F39BC1}"/>
              </a:ext>
            </a:extLst>
          </p:cNvPr>
          <p:cNvSpPr>
            <a:spLocks noGrp="1"/>
          </p:cNvSpPr>
          <p:nvPr>
            <p:ph type="sldNum" sz="quarter" idx="12"/>
          </p:nvPr>
        </p:nvSpPr>
        <p:spPr/>
        <p:txBody>
          <a:bodyPr/>
          <a:lstStyle/>
          <a:p>
            <a:fld id="{ACE2F108-0A8D-40BD-9A9C-464734DAE4AE}" type="slidenum">
              <a:rPr lang="en-IN" smtClean="0"/>
              <a:t>16</a:t>
            </a:fld>
            <a:endParaRPr lang="en-IN" dirty="0"/>
          </a:p>
        </p:txBody>
      </p:sp>
      <p:sp>
        <p:nvSpPr>
          <p:cNvPr id="2" name="Rectangle 1">
            <a:extLst>
              <a:ext uri="{FF2B5EF4-FFF2-40B4-BE49-F238E27FC236}">
                <a16:creationId xmlns="" xmlns:a16="http://schemas.microsoft.com/office/drawing/2014/main" id="{53A10C1E-6C7F-48D3-B1C2-239F5461D0AE}"/>
              </a:ext>
            </a:extLst>
          </p:cNvPr>
          <p:cNvSpPr/>
          <p:nvPr/>
        </p:nvSpPr>
        <p:spPr>
          <a:xfrm>
            <a:off x="647970" y="501459"/>
            <a:ext cx="10343540" cy="5637441"/>
          </a:xfrm>
          <a:prstGeom prst="rect">
            <a:avLst/>
          </a:prstGeom>
        </p:spPr>
        <p:txBody>
          <a:bodyPr wrap="square">
            <a:spAutoFit/>
          </a:bodyPr>
          <a:lstStyle/>
          <a:p>
            <a:pPr>
              <a:spcAft>
                <a:spcPts val="1036"/>
              </a:spcAft>
            </a:pPr>
            <a:r>
              <a:rPr lang="en-US" sz="3200" b="1" dirty="0" smtClean="0">
                <a:latin typeface="Times New Roman" panose="02020603050405020304" pitchFamily="18" charset="0"/>
                <a:cs typeface="Times New Roman" panose="02020603050405020304" pitchFamily="18" charset="0"/>
              </a:rPr>
              <a:t>Conclusions</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Developed </a:t>
            </a:r>
            <a:r>
              <a:rPr lang="en-IN" sz="2400" dirty="0" err="1">
                <a:latin typeface="Times New Roman" panose="02020603050405020304" pitchFamily="18" charset="0"/>
                <a:cs typeface="Times New Roman" panose="02020603050405020304" pitchFamily="18" charset="0"/>
              </a:rPr>
              <a:t>IoT</a:t>
            </a:r>
            <a:r>
              <a:rPr lang="en-IN" sz="2400" dirty="0">
                <a:latin typeface="Times New Roman" panose="02020603050405020304" pitchFamily="18" charset="0"/>
                <a:cs typeface="Times New Roman" panose="02020603050405020304" pitchFamily="18" charset="0"/>
              </a:rPr>
              <a:t>-based air pollution monitoring system </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Monitors temperature, humidity &amp; harmful gases </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Provides real-time air quality data </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Enables remote monitoring via internet (Wi-Fi) </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Includes alert system (buzzer &amp; LED) for safety </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Cost-effective, eco-friendly &amp; easy to deploy </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Suitable for indoor &amp; outdoor environments </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Helps improve public health awareness </a:t>
            </a:r>
          </a:p>
          <a:p>
            <a:pPr>
              <a:spcAft>
                <a:spcPts val="1036"/>
              </a:spcAft>
            </a:pPr>
            <a:endParaRPr lang="en-US"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35052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 xmlns:a16="http://schemas.microsoft.com/office/drawing/2014/main" id="{53856DA0-2E0C-44F3-8D04-B52D80503749}"/>
              </a:ext>
            </a:extLst>
          </p:cNvPr>
          <p:cNvSpPr>
            <a:spLocks noGrp="1"/>
          </p:cNvSpPr>
          <p:nvPr>
            <p:ph type="dt" sz="half" idx="10"/>
          </p:nvPr>
        </p:nvSpPr>
        <p:spPr/>
        <p:txBody>
          <a:bodyPr/>
          <a:lstStyle/>
          <a:p>
            <a:r>
              <a:rPr lang="en-US" dirty="0"/>
              <a:t> </a:t>
            </a:r>
            <a:endParaRPr lang="en-IN" dirty="0"/>
          </a:p>
        </p:txBody>
      </p:sp>
      <p:sp>
        <p:nvSpPr>
          <p:cNvPr id="5" name="Footer Placeholder 4">
            <a:extLst>
              <a:ext uri="{FF2B5EF4-FFF2-40B4-BE49-F238E27FC236}">
                <a16:creationId xmlns="" xmlns:a16="http://schemas.microsoft.com/office/drawing/2014/main" id="{0D027C5F-B671-4666-97EF-B9E4A1C11069}"/>
              </a:ext>
            </a:extLst>
          </p:cNvPr>
          <p:cNvSpPr>
            <a:spLocks noGrp="1"/>
          </p:cNvSpPr>
          <p:nvPr>
            <p:ph type="ftr" sz="quarter" idx="11"/>
          </p:nvPr>
        </p:nvSpPr>
        <p:spPr/>
        <p:txBody>
          <a:bodyPr/>
          <a:lstStyle/>
          <a:p>
            <a:r>
              <a:rPr lang="en-IN" dirty="0"/>
              <a:t> </a:t>
            </a:r>
          </a:p>
        </p:txBody>
      </p:sp>
      <p:sp>
        <p:nvSpPr>
          <p:cNvPr id="3" name="Slide Number Placeholder 2">
            <a:extLst>
              <a:ext uri="{FF2B5EF4-FFF2-40B4-BE49-F238E27FC236}">
                <a16:creationId xmlns="" xmlns:a16="http://schemas.microsoft.com/office/drawing/2014/main" id="{D9F91A99-A8B3-418B-8EF2-A41CA3F39BC1}"/>
              </a:ext>
            </a:extLst>
          </p:cNvPr>
          <p:cNvSpPr>
            <a:spLocks noGrp="1"/>
          </p:cNvSpPr>
          <p:nvPr>
            <p:ph type="sldNum" sz="quarter" idx="12"/>
          </p:nvPr>
        </p:nvSpPr>
        <p:spPr/>
        <p:txBody>
          <a:bodyPr/>
          <a:lstStyle/>
          <a:p>
            <a:fld id="{ACE2F108-0A8D-40BD-9A9C-464734DAE4AE}" type="slidenum">
              <a:rPr lang="en-IN" smtClean="0"/>
              <a:t>17</a:t>
            </a:fld>
            <a:endParaRPr lang="en-IN" dirty="0"/>
          </a:p>
        </p:txBody>
      </p:sp>
      <p:sp>
        <p:nvSpPr>
          <p:cNvPr id="2" name="Rectangle 1">
            <a:extLst>
              <a:ext uri="{FF2B5EF4-FFF2-40B4-BE49-F238E27FC236}">
                <a16:creationId xmlns="" xmlns:a16="http://schemas.microsoft.com/office/drawing/2014/main" id="{53A10C1E-6C7F-48D3-B1C2-239F5461D0AE}"/>
              </a:ext>
            </a:extLst>
          </p:cNvPr>
          <p:cNvSpPr/>
          <p:nvPr/>
        </p:nvSpPr>
        <p:spPr>
          <a:xfrm>
            <a:off x="647969" y="290945"/>
            <a:ext cx="9690985" cy="6606937"/>
          </a:xfrm>
          <a:prstGeom prst="rect">
            <a:avLst/>
          </a:prstGeom>
        </p:spPr>
        <p:txBody>
          <a:bodyPr wrap="square">
            <a:spAutoFit/>
          </a:bodyPr>
          <a:lstStyle/>
          <a:p>
            <a:pPr>
              <a:spcAft>
                <a:spcPts val="1036"/>
              </a:spcAft>
            </a:pPr>
            <a:r>
              <a:rPr lang="en-US" sz="3200" b="1" dirty="0" smtClean="0">
                <a:latin typeface="Times New Roman" panose="02020603050405020304" pitchFamily="18" charset="0"/>
                <a:cs typeface="Times New Roman" panose="02020603050405020304" pitchFamily="18" charset="0"/>
              </a:rPr>
              <a:t>References</a:t>
            </a:r>
            <a:endParaRPr lang="en-IN" dirty="0">
              <a:latin typeface="Times New Roman" panose="02020603050405020304" pitchFamily="18" charset="0"/>
              <a:cs typeface="Times New Roman" panose="02020603050405020304" pitchFamily="18" charset="0"/>
            </a:endParaRPr>
          </a:p>
          <a:p>
            <a:pPr marR="67310" lvl="0" algn="just">
              <a:lnSpc>
                <a:spcPct val="150000"/>
              </a:lnSpc>
              <a:spcBef>
                <a:spcPts val="805"/>
              </a:spcBef>
              <a:buSzPts val="1200"/>
            </a:pPr>
            <a:r>
              <a:rPr lang="en-US" sz="1400" dirty="0" smtClean="0">
                <a:latin typeface="Times New Roman" pitchFamily="18" charset="0"/>
                <a:ea typeface="Times New Roman" panose="02020603050405020304" pitchFamily="18" charset="0"/>
                <a:cs typeface="Times New Roman" pitchFamily="18" charset="0"/>
              </a:rPr>
              <a:t>1. Han</a:t>
            </a:r>
            <a:r>
              <a:rPr lang="en-US" sz="1400" dirty="0">
                <a:latin typeface="Times New Roman" pitchFamily="18" charset="0"/>
                <a:ea typeface="Times New Roman" panose="02020603050405020304" pitchFamily="18" charset="0"/>
                <a:cs typeface="Times New Roman" pitchFamily="18" charset="0"/>
              </a:rPr>
              <a:t>, Y., Cheng, X., Han, J., &amp; Zeng, X. (2020). </a:t>
            </a:r>
            <a:r>
              <a:rPr lang="en-US" sz="1400" i="1" dirty="0">
                <a:latin typeface="Times New Roman" pitchFamily="18" charset="0"/>
                <a:ea typeface="Times New Roman" panose="02020603050405020304" pitchFamily="18" charset="0"/>
                <a:cs typeface="Times New Roman" pitchFamily="18" charset="0"/>
              </a:rPr>
              <a:t>Radiation-Hardened 0.3-0.9-V Voltage-Scalable 14T SRAM and Peripheral Circuit in 28-nm Technology for Space Applications. IEEE Transactions on Very Large-Scale Integration (VLSI) Systems, 1–5.</a:t>
            </a:r>
            <a:r>
              <a:rPr lang="en-US" sz="1400" dirty="0">
                <a:latin typeface="Times New Roman" pitchFamily="18" charset="0"/>
                <a:ea typeface="Times New Roman" panose="02020603050405020304" pitchFamily="18" charset="0"/>
                <a:cs typeface="Times New Roman" pitchFamily="18" charset="0"/>
              </a:rPr>
              <a:t> doi:10.1109/tvlsi.2019.2961736  </a:t>
            </a:r>
            <a:r>
              <a:rPr lang="en-US" sz="1400" b="1" dirty="0">
                <a:latin typeface="Times New Roman" pitchFamily="18" charset="0"/>
                <a:ea typeface="Times New Roman" panose="02020603050405020304" pitchFamily="18" charset="0"/>
                <a:cs typeface="Times New Roman" pitchFamily="18" charset="0"/>
              </a:rPr>
              <a:t> </a:t>
            </a:r>
            <a:endParaRPr lang="en-IN" sz="1400" dirty="0">
              <a:latin typeface="Times New Roman" pitchFamily="18" charset="0"/>
              <a:ea typeface="Times New Roman" panose="02020603050405020304" pitchFamily="18" charset="0"/>
              <a:cs typeface="Times New Roman" pitchFamily="18" charset="0"/>
            </a:endParaRPr>
          </a:p>
          <a:p>
            <a:pPr marR="67310" lvl="0" algn="just">
              <a:lnSpc>
                <a:spcPct val="150000"/>
              </a:lnSpc>
              <a:spcBef>
                <a:spcPts val="805"/>
              </a:spcBef>
              <a:buSzPts val="1200"/>
            </a:pPr>
            <a:r>
              <a:rPr lang="en-US" sz="1400" dirty="0">
                <a:latin typeface="Times New Roman" pitchFamily="18" charset="0"/>
                <a:ea typeface="Times New Roman" panose="02020603050405020304" pitchFamily="18" charset="0"/>
                <a:cs typeface="Times New Roman" pitchFamily="18" charset="0"/>
              </a:rPr>
              <a:t>2. Lin, </a:t>
            </a:r>
            <a:r>
              <a:rPr lang="en-US" sz="1400" dirty="0" err="1">
                <a:latin typeface="Times New Roman" pitchFamily="18" charset="0"/>
                <a:ea typeface="Times New Roman" panose="02020603050405020304" pitchFamily="18" charset="0"/>
                <a:cs typeface="Times New Roman" pitchFamily="18" charset="0"/>
              </a:rPr>
              <a:t>Zhi</a:t>
            </a:r>
            <a:r>
              <a:rPr lang="en-US" sz="1400" dirty="0">
                <a:latin typeface="Times New Roman" pitchFamily="18" charset="0"/>
                <a:ea typeface="Times New Roman" panose="02020603050405020304" pitchFamily="18" charset="0"/>
                <a:cs typeface="Times New Roman" pitchFamily="18" charset="0"/>
              </a:rPr>
              <a:t>-Ting &amp; Wu, </a:t>
            </a:r>
            <a:r>
              <a:rPr lang="en-US" sz="1400" dirty="0" err="1">
                <a:latin typeface="Times New Roman" pitchFamily="18" charset="0"/>
                <a:ea typeface="Times New Roman" panose="02020603050405020304" pitchFamily="18" charset="0"/>
                <a:cs typeface="Times New Roman" pitchFamily="18" charset="0"/>
              </a:rPr>
              <a:t>Xiulong</a:t>
            </a:r>
            <a:r>
              <a:rPr lang="en-US" sz="1400" dirty="0">
                <a:latin typeface="Times New Roman" pitchFamily="18" charset="0"/>
                <a:ea typeface="Times New Roman" panose="02020603050405020304" pitchFamily="18" charset="0"/>
                <a:cs typeface="Times New Roman" pitchFamily="18" charset="0"/>
              </a:rPr>
              <a:t>&amp; Li, </a:t>
            </a:r>
            <a:r>
              <a:rPr lang="en-US" sz="1400" dirty="0" err="1">
                <a:latin typeface="Times New Roman" pitchFamily="18" charset="0"/>
                <a:ea typeface="Times New Roman" panose="02020603050405020304" pitchFamily="18" charset="0"/>
                <a:cs typeface="Times New Roman" pitchFamily="18" charset="0"/>
              </a:rPr>
              <a:t>Zhi</a:t>
            </a:r>
            <a:r>
              <a:rPr lang="en-US" sz="1400" dirty="0">
                <a:latin typeface="Times New Roman" pitchFamily="18" charset="0"/>
                <a:ea typeface="Times New Roman" panose="02020603050405020304" pitchFamily="18" charset="0"/>
                <a:cs typeface="Times New Roman" pitchFamily="18" charset="0"/>
              </a:rPr>
              <a:t> &amp; Guan, </a:t>
            </a:r>
            <a:r>
              <a:rPr lang="en-US" sz="1400" dirty="0" err="1">
                <a:latin typeface="Times New Roman" pitchFamily="18" charset="0"/>
                <a:ea typeface="Times New Roman" panose="02020603050405020304" pitchFamily="18" charset="0"/>
                <a:cs typeface="Times New Roman" pitchFamily="18" charset="0"/>
              </a:rPr>
              <a:t>Lijun</a:t>
            </a:r>
            <a:r>
              <a:rPr lang="en-US" sz="1400" dirty="0">
                <a:latin typeface="Times New Roman" pitchFamily="18" charset="0"/>
                <a:ea typeface="Times New Roman" panose="02020603050405020304" pitchFamily="18" charset="0"/>
                <a:cs typeface="Times New Roman" pitchFamily="18" charset="0"/>
              </a:rPr>
              <a:t> &amp; Peng, </a:t>
            </a:r>
            <a:r>
              <a:rPr lang="en-US" sz="1400" dirty="0" err="1">
                <a:latin typeface="Times New Roman" pitchFamily="18" charset="0"/>
                <a:ea typeface="Times New Roman" panose="02020603050405020304" pitchFamily="18" charset="0"/>
                <a:cs typeface="Times New Roman" pitchFamily="18" charset="0"/>
              </a:rPr>
              <a:t>Chunyu</a:t>
            </a:r>
            <a:r>
              <a:rPr lang="en-US" sz="1400" dirty="0">
                <a:latin typeface="Times New Roman" pitchFamily="18" charset="0"/>
                <a:ea typeface="Times New Roman" panose="02020603050405020304" pitchFamily="18" charset="0"/>
                <a:cs typeface="Times New Roman" pitchFamily="18" charset="0"/>
              </a:rPr>
              <a:t>&amp; Liu, </a:t>
            </a:r>
            <a:r>
              <a:rPr lang="en-US" sz="1400" dirty="0" err="1">
                <a:latin typeface="Times New Roman" pitchFamily="18" charset="0"/>
                <a:ea typeface="Times New Roman" panose="02020603050405020304" pitchFamily="18" charset="0"/>
                <a:cs typeface="Times New Roman" pitchFamily="18" charset="0"/>
              </a:rPr>
              <a:t>Changyong</a:t>
            </a:r>
            <a:r>
              <a:rPr lang="en-US" sz="1400" dirty="0">
                <a:latin typeface="Times New Roman" pitchFamily="18" charset="0"/>
                <a:ea typeface="Times New Roman" panose="02020603050405020304" pitchFamily="18" charset="0"/>
                <a:cs typeface="Times New Roman" pitchFamily="18" charset="0"/>
              </a:rPr>
              <a:t>&amp; Chen, </a:t>
            </a:r>
            <a:r>
              <a:rPr lang="en-US" sz="1400" dirty="0" err="1">
                <a:latin typeface="Times New Roman" pitchFamily="18" charset="0"/>
                <a:ea typeface="Times New Roman" panose="02020603050405020304" pitchFamily="18" charset="0"/>
                <a:cs typeface="Times New Roman" pitchFamily="18" charset="0"/>
              </a:rPr>
              <a:t>Junning</a:t>
            </a:r>
            <a:r>
              <a:rPr lang="en-US" sz="1400" dirty="0">
                <a:latin typeface="Times New Roman" pitchFamily="18" charset="0"/>
                <a:ea typeface="Times New Roman" panose="02020603050405020304" pitchFamily="18" charset="0"/>
                <a:cs typeface="Times New Roman" pitchFamily="18" charset="0"/>
              </a:rPr>
              <a:t>. (2016). A Pipeline Replica </a:t>
            </a:r>
            <a:r>
              <a:rPr lang="en-US" sz="1400" dirty="0" err="1">
                <a:latin typeface="Times New Roman" pitchFamily="18" charset="0"/>
                <a:ea typeface="Times New Roman" panose="02020603050405020304" pitchFamily="18" charset="0"/>
                <a:cs typeface="Times New Roman" pitchFamily="18" charset="0"/>
              </a:rPr>
              <a:t>Bitline</a:t>
            </a:r>
            <a:r>
              <a:rPr lang="en-US" sz="1400" dirty="0">
                <a:latin typeface="Times New Roman" pitchFamily="18" charset="0"/>
                <a:ea typeface="Times New Roman" panose="02020603050405020304" pitchFamily="18" charset="0"/>
                <a:cs typeface="Times New Roman" pitchFamily="18" charset="0"/>
              </a:rPr>
              <a:t> Technique for Suppressing Timing Variation of SRAM Sense Amplifiers in a 28-nm CMOS Process. IEEE Journal of Solid-State Circuits. PP. 1-9. 10.1109/JSSC.2016.2634701.</a:t>
            </a:r>
            <a:endParaRPr lang="en-IN" sz="1400" dirty="0">
              <a:latin typeface="Times New Roman" pitchFamily="18" charset="0"/>
              <a:ea typeface="Times New Roman" panose="02020603050405020304" pitchFamily="18" charset="0"/>
              <a:cs typeface="Times New Roman" pitchFamily="18" charset="0"/>
            </a:endParaRPr>
          </a:p>
          <a:p>
            <a:pPr marR="67310" lvl="0" algn="just">
              <a:lnSpc>
                <a:spcPct val="150000"/>
              </a:lnSpc>
              <a:spcBef>
                <a:spcPts val="805"/>
              </a:spcBef>
              <a:buSzPts val="1200"/>
            </a:pPr>
            <a:r>
              <a:rPr lang="en-US" sz="1400" dirty="0">
                <a:latin typeface="Times New Roman" pitchFamily="18" charset="0"/>
                <a:cs typeface="Times New Roman" pitchFamily="18" charset="0"/>
              </a:rPr>
              <a:t>3. Chang, M. F., Chen, M. P., Chen, L. F., Yang, S. M., </a:t>
            </a:r>
            <a:r>
              <a:rPr lang="en-US" sz="1400" dirty="0" err="1">
                <a:latin typeface="Times New Roman" pitchFamily="18" charset="0"/>
                <a:cs typeface="Times New Roman" pitchFamily="18" charset="0"/>
              </a:rPr>
              <a:t>Kuo</a:t>
            </a:r>
            <a:r>
              <a:rPr lang="en-US" sz="1400" dirty="0">
                <a:latin typeface="Times New Roman" pitchFamily="18" charset="0"/>
                <a:cs typeface="Times New Roman" pitchFamily="18" charset="0"/>
              </a:rPr>
              <a:t>, Y. J., Wu, J. J., &amp; Yamauchi, H. (2013). A Sub-0.3 V Area-Efficient L-Shaped 7T SRAM With Read </a:t>
            </a:r>
            <a:r>
              <a:rPr lang="en-US" sz="1400" dirty="0" err="1">
                <a:latin typeface="Times New Roman" pitchFamily="18" charset="0"/>
                <a:cs typeface="Times New Roman" pitchFamily="18" charset="0"/>
              </a:rPr>
              <a:t>Bitline</a:t>
            </a:r>
            <a:r>
              <a:rPr lang="en-US" sz="1400" dirty="0">
                <a:latin typeface="Times New Roman" pitchFamily="18" charset="0"/>
                <a:cs typeface="Times New Roman" pitchFamily="18" charset="0"/>
              </a:rPr>
              <a:t> Swing Expansion Schemes Based on Boosted Read-</a:t>
            </a:r>
            <a:r>
              <a:rPr lang="en-US" sz="1400" dirty="0" err="1">
                <a:latin typeface="Times New Roman" pitchFamily="18" charset="0"/>
                <a:cs typeface="Times New Roman" pitchFamily="18" charset="0"/>
              </a:rPr>
              <a:t>Bitline</a:t>
            </a:r>
            <a:r>
              <a:rPr lang="en-US" sz="1400" dirty="0">
                <a:latin typeface="Times New Roman" pitchFamily="18" charset="0"/>
                <a:cs typeface="Times New Roman" pitchFamily="18" charset="0"/>
              </a:rPr>
              <a:t>, Read-Port, and Offset Cell VDD Biasing Techniques. </a:t>
            </a:r>
            <a:r>
              <a:rPr lang="en-US" sz="1400" i="1" dirty="0">
                <a:latin typeface="Times New Roman" pitchFamily="18" charset="0"/>
                <a:cs typeface="Times New Roman" pitchFamily="18" charset="0"/>
              </a:rPr>
              <a:t>IEEE journal of solid-state circuits</a:t>
            </a:r>
            <a:r>
              <a:rPr lang="en-US" sz="1400" dirty="0">
                <a:latin typeface="Times New Roman" pitchFamily="18" charset="0"/>
                <a:cs typeface="Times New Roman" pitchFamily="18" charset="0"/>
              </a:rPr>
              <a:t>, </a:t>
            </a:r>
            <a:r>
              <a:rPr lang="en-US" sz="1400" i="1" dirty="0">
                <a:latin typeface="Times New Roman" pitchFamily="18" charset="0"/>
                <a:cs typeface="Times New Roman" pitchFamily="18" charset="0"/>
              </a:rPr>
              <a:t>48</a:t>
            </a:r>
            <a:r>
              <a:rPr lang="en-US" sz="1400" dirty="0">
                <a:latin typeface="Times New Roman" pitchFamily="18" charset="0"/>
                <a:cs typeface="Times New Roman" pitchFamily="18" charset="0"/>
              </a:rPr>
              <a:t>(10), 2558-2569.</a:t>
            </a:r>
            <a:r>
              <a:rPr lang="en-US" sz="1400" dirty="0">
                <a:latin typeface="Times New Roman" pitchFamily="18" charset="0"/>
                <a:ea typeface="Times New Roman" panose="02020603050405020304" pitchFamily="18" charset="0"/>
                <a:cs typeface="Times New Roman" pitchFamily="18" charset="0"/>
              </a:rPr>
              <a:t>.</a:t>
            </a:r>
          </a:p>
          <a:p>
            <a:pPr marR="67310" lvl="0" algn="just">
              <a:lnSpc>
                <a:spcPct val="150000"/>
              </a:lnSpc>
              <a:spcBef>
                <a:spcPts val="805"/>
              </a:spcBef>
              <a:buSzPts val="1200"/>
            </a:pPr>
            <a:r>
              <a:rPr lang="en-US" sz="1400" dirty="0">
                <a:latin typeface="Times New Roman" pitchFamily="18" charset="0"/>
                <a:ea typeface="Times New Roman" panose="02020603050405020304" pitchFamily="18" charset="0"/>
                <a:cs typeface="Times New Roman" pitchFamily="18" charset="0"/>
              </a:rPr>
              <a:t>4. C. Peng et al., (2019) “Radiation-hardened 14T SRAM </a:t>
            </a:r>
            <a:r>
              <a:rPr lang="en-US" sz="1400" dirty="0" err="1">
                <a:latin typeface="Times New Roman" pitchFamily="18" charset="0"/>
                <a:ea typeface="Times New Roman" panose="02020603050405020304" pitchFamily="18" charset="0"/>
                <a:cs typeface="Times New Roman" pitchFamily="18" charset="0"/>
              </a:rPr>
              <a:t>bitcell</a:t>
            </a:r>
            <a:r>
              <a:rPr lang="en-US" sz="1400" dirty="0">
                <a:latin typeface="Times New Roman" pitchFamily="18" charset="0"/>
                <a:ea typeface="Times New Roman" panose="02020603050405020304" pitchFamily="18" charset="0"/>
                <a:cs typeface="Times New Roman" pitchFamily="18" charset="0"/>
              </a:rPr>
              <a:t> with speed and power optimized for space application,” IEEE Trans. Very Large Scale </a:t>
            </a:r>
            <a:r>
              <a:rPr lang="en-US" sz="1400" dirty="0" err="1">
                <a:latin typeface="Times New Roman" pitchFamily="18" charset="0"/>
                <a:ea typeface="Times New Roman" panose="02020603050405020304" pitchFamily="18" charset="0"/>
                <a:cs typeface="Times New Roman" pitchFamily="18" charset="0"/>
              </a:rPr>
              <a:t>Integr</a:t>
            </a:r>
            <a:r>
              <a:rPr lang="en-US" sz="1400" dirty="0">
                <a:latin typeface="Times New Roman" pitchFamily="18" charset="0"/>
                <a:ea typeface="Times New Roman" panose="02020603050405020304" pitchFamily="18" charset="0"/>
                <a:cs typeface="Times New Roman" pitchFamily="18" charset="0"/>
              </a:rPr>
              <a:t>. (VLSI) Syst., vol. 27, no. 2, pp. 407–415.</a:t>
            </a:r>
            <a:endParaRPr lang="en-IN" sz="1400" dirty="0">
              <a:latin typeface="Times New Roman" pitchFamily="18" charset="0"/>
              <a:ea typeface="Times New Roman" panose="02020603050405020304" pitchFamily="18" charset="0"/>
              <a:cs typeface="Times New Roman" pitchFamily="18" charset="0"/>
            </a:endParaRPr>
          </a:p>
          <a:p>
            <a:pPr marR="67310" lvl="0" algn="just">
              <a:lnSpc>
                <a:spcPct val="150000"/>
              </a:lnSpc>
              <a:spcBef>
                <a:spcPts val="805"/>
              </a:spcBef>
              <a:buSzPts val="1200"/>
            </a:pPr>
            <a:r>
              <a:rPr lang="en-US" sz="1400" dirty="0">
                <a:latin typeface="Times New Roman" pitchFamily="18" charset="0"/>
                <a:ea typeface="Times New Roman" panose="02020603050405020304" pitchFamily="18" charset="0"/>
                <a:cs typeface="Times New Roman" pitchFamily="18" charset="0"/>
              </a:rPr>
              <a:t>5. </a:t>
            </a:r>
            <a:r>
              <a:rPr lang="en-US" sz="1400" dirty="0">
                <a:latin typeface="Times New Roman" pitchFamily="18" charset="0"/>
                <a:cs typeface="Times New Roman" pitchFamily="18" charset="0"/>
              </a:rPr>
              <a:t>Peng, C., Tao, Y., Lu, W., Li, Z., Ji, X., Yan, J., &amp; Chen, J. (2015). A novel cascade control replica-</a:t>
            </a:r>
            <a:r>
              <a:rPr lang="en-US" sz="1400" dirty="0" err="1">
                <a:latin typeface="Times New Roman" pitchFamily="18" charset="0"/>
                <a:cs typeface="Times New Roman" pitchFamily="18" charset="0"/>
              </a:rPr>
              <a:t>bitline</a:t>
            </a:r>
            <a:r>
              <a:rPr lang="en-US" sz="1400" dirty="0">
                <a:latin typeface="Times New Roman" pitchFamily="18" charset="0"/>
                <a:cs typeface="Times New Roman" pitchFamily="18" charset="0"/>
              </a:rPr>
              <a:t> delay technique for reducing timing process-variation of SRAM sense amplifier. </a:t>
            </a:r>
            <a:r>
              <a:rPr lang="en-US" sz="1400" i="1" dirty="0">
                <a:latin typeface="Times New Roman" pitchFamily="18" charset="0"/>
                <a:cs typeface="Times New Roman" pitchFamily="18" charset="0"/>
              </a:rPr>
              <a:t>IEICE Electronics Express</a:t>
            </a:r>
            <a:r>
              <a:rPr lang="en-US" sz="1400" dirty="0">
                <a:latin typeface="Times New Roman" pitchFamily="18" charset="0"/>
                <a:cs typeface="Times New Roman" pitchFamily="18" charset="0"/>
              </a:rPr>
              <a:t>, 12-20150102.</a:t>
            </a:r>
          </a:p>
          <a:p>
            <a:pPr marR="67310" lvl="0" algn="just">
              <a:lnSpc>
                <a:spcPct val="150000"/>
              </a:lnSpc>
              <a:spcBef>
                <a:spcPts val="805"/>
              </a:spcBef>
              <a:buSzPts val="1200"/>
              <a:buNone/>
            </a:pPr>
            <a:r>
              <a:rPr lang="en-US" sz="1400" dirty="0">
                <a:latin typeface="Times New Roman" pitchFamily="18" charset="0"/>
                <a:ea typeface="Times New Roman" panose="02020603050405020304" pitchFamily="18" charset="0"/>
                <a:cs typeface="Times New Roman" pitchFamily="18" charset="0"/>
              </a:rPr>
              <a:t>6. </a:t>
            </a:r>
            <a:r>
              <a:rPr lang="en-US" sz="1400" dirty="0" err="1">
                <a:latin typeface="Times New Roman" pitchFamily="18" charset="0"/>
                <a:ea typeface="Times New Roman" panose="02020603050405020304" pitchFamily="18" charset="0"/>
                <a:cs typeface="Times New Roman" pitchFamily="18" charset="0"/>
              </a:rPr>
              <a:t>Atias</a:t>
            </a:r>
            <a:r>
              <a:rPr lang="en-US" sz="1400" dirty="0">
                <a:latin typeface="Times New Roman" pitchFamily="18" charset="0"/>
                <a:ea typeface="Times New Roman" panose="02020603050405020304" pitchFamily="18" charset="0"/>
                <a:cs typeface="Times New Roman" pitchFamily="18" charset="0"/>
              </a:rPr>
              <a:t>, L., </a:t>
            </a:r>
            <a:r>
              <a:rPr lang="en-US" sz="1400" dirty="0" err="1">
                <a:latin typeface="Times New Roman" pitchFamily="18" charset="0"/>
                <a:ea typeface="Times New Roman" panose="02020603050405020304" pitchFamily="18" charset="0"/>
                <a:cs typeface="Times New Roman" pitchFamily="18" charset="0"/>
              </a:rPr>
              <a:t>Teman</a:t>
            </a:r>
            <a:r>
              <a:rPr lang="en-US" sz="1400" dirty="0">
                <a:latin typeface="Times New Roman" pitchFamily="18" charset="0"/>
                <a:ea typeface="Times New Roman" panose="02020603050405020304" pitchFamily="18" charset="0"/>
                <a:cs typeface="Times New Roman" pitchFamily="18" charset="0"/>
              </a:rPr>
              <a:t>, A., </a:t>
            </a:r>
            <a:r>
              <a:rPr lang="en-US" sz="1400" dirty="0" err="1">
                <a:latin typeface="Times New Roman" pitchFamily="18" charset="0"/>
                <a:ea typeface="Times New Roman" panose="02020603050405020304" pitchFamily="18" charset="0"/>
                <a:cs typeface="Times New Roman" pitchFamily="18" charset="0"/>
              </a:rPr>
              <a:t>Giterman</a:t>
            </a:r>
            <a:r>
              <a:rPr lang="en-US" sz="1400" dirty="0">
                <a:latin typeface="Times New Roman" pitchFamily="18" charset="0"/>
                <a:ea typeface="Times New Roman" panose="02020603050405020304" pitchFamily="18" charset="0"/>
                <a:cs typeface="Times New Roman" pitchFamily="18" charset="0"/>
              </a:rPr>
              <a:t>, R., </a:t>
            </a:r>
            <a:r>
              <a:rPr lang="en-US" sz="1400" dirty="0" err="1">
                <a:latin typeface="Times New Roman" pitchFamily="18" charset="0"/>
                <a:ea typeface="Times New Roman" panose="02020603050405020304" pitchFamily="18" charset="0"/>
                <a:cs typeface="Times New Roman" pitchFamily="18" charset="0"/>
              </a:rPr>
              <a:t>Meinerzhagen</a:t>
            </a:r>
            <a:r>
              <a:rPr lang="en-US" sz="1400" dirty="0">
                <a:latin typeface="Times New Roman" pitchFamily="18" charset="0"/>
                <a:ea typeface="Times New Roman" panose="02020603050405020304" pitchFamily="18" charset="0"/>
                <a:cs typeface="Times New Roman" pitchFamily="18" charset="0"/>
              </a:rPr>
              <a:t>, P., &amp; Fish, A. (2016). A low-voltage radiation-hardened 13T SRAM </a:t>
            </a:r>
            <a:r>
              <a:rPr lang="en-US" sz="1400" dirty="0" err="1">
                <a:latin typeface="Times New Roman" pitchFamily="18" charset="0"/>
                <a:ea typeface="Times New Roman" panose="02020603050405020304" pitchFamily="18" charset="0"/>
                <a:cs typeface="Times New Roman" pitchFamily="18" charset="0"/>
              </a:rPr>
              <a:t>bitcell</a:t>
            </a:r>
            <a:r>
              <a:rPr lang="en-US" sz="1400" dirty="0">
                <a:latin typeface="Times New Roman" pitchFamily="18" charset="0"/>
                <a:ea typeface="Times New Roman" panose="02020603050405020304" pitchFamily="18" charset="0"/>
                <a:cs typeface="Times New Roman" pitchFamily="18" charset="0"/>
              </a:rPr>
              <a:t> for ultralow power space applications. </a:t>
            </a:r>
            <a:r>
              <a:rPr lang="en-US" sz="1400" i="1" dirty="0">
                <a:latin typeface="Times New Roman" pitchFamily="18" charset="0"/>
                <a:ea typeface="Times New Roman" panose="02020603050405020304" pitchFamily="18" charset="0"/>
                <a:cs typeface="Times New Roman" pitchFamily="18" charset="0"/>
              </a:rPr>
              <a:t>IEEE Transactions on Very Large Scale Integration (VLSI) Systems</a:t>
            </a:r>
            <a:r>
              <a:rPr lang="en-US" sz="1400" dirty="0">
                <a:latin typeface="Times New Roman" pitchFamily="18" charset="0"/>
                <a:ea typeface="Times New Roman" panose="02020603050405020304" pitchFamily="18" charset="0"/>
                <a:cs typeface="Times New Roman" pitchFamily="18" charset="0"/>
              </a:rPr>
              <a:t>, </a:t>
            </a:r>
            <a:r>
              <a:rPr lang="en-US" sz="1400" i="1" dirty="0">
                <a:latin typeface="Times New Roman" pitchFamily="18" charset="0"/>
                <a:ea typeface="Times New Roman" panose="02020603050405020304" pitchFamily="18" charset="0"/>
                <a:cs typeface="Times New Roman" pitchFamily="18" charset="0"/>
              </a:rPr>
              <a:t>24</a:t>
            </a:r>
            <a:r>
              <a:rPr lang="en-US" sz="1400" dirty="0">
                <a:latin typeface="Times New Roman" pitchFamily="18" charset="0"/>
                <a:ea typeface="Times New Roman" panose="02020603050405020304" pitchFamily="18" charset="0"/>
                <a:cs typeface="Times New Roman" pitchFamily="18" charset="0"/>
              </a:rPr>
              <a:t>(8), 2622-2633.</a:t>
            </a:r>
          </a:p>
          <a:p>
            <a:r>
              <a:rPr lang="en-US" sz="1400" dirty="0">
                <a:latin typeface="Times New Roman" panose="02020603050405020304" pitchFamily="18" charset="0"/>
                <a:cs typeface="Times New Roman" panose="02020603050405020304" pitchFamily="18" charset="0"/>
              </a:rPr>
              <a:t> </a:t>
            </a:r>
            <a:endParaRPr lang="en-IN" sz="1400" dirty="0">
              <a:latin typeface="Times New Roman" panose="02020603050405020304" pitchFamily="18" charset="0"/>
              <a:cs typeface="Times New Roman" panose="02020603050405020304" pitchFamily="18" charset="0"/>
            </a:endParaRPr>
          </a:p>
          <a:p>
            <a:pPr>
              <a:spcAft>
                <a:spcPts val="1036"/>
              </a:spcAft>
            </a:pPr>
            <a:endParaRPr lang="en-US" sz="1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34819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CE2F108-0A8D-40BD-9A9C-464734DAE4AE}" type="slidenum">
              <a:rPr lang="en-IN" smtClean="0"/>
              <a:t>18</a:t>
            </a:fld>
            <a:endParaRPr lang="en-IN"/>
          </a:p>
        </p:txBody>
      </p:sp>
      <p:sp>
        <p:nvSpPr>
          <p:cNvPr id="5" name="Rectangle 4"/>
          <p:cNvSpPr/>
          <p:nvPr/>
        </p:nvSpPr>
        <p:spPr>
          <a:xfrm>
            <a:off x="550191" y="139485"/>
            <a:ext cx="8609308" cy="6812121"/>
          </a:xfrm>
          <a:prstGeom prst="rect">
            <a:avLst/>
          </a:prstGeom>
        </p:spPr>
        <p:txBody>
          <a:bodyPr wrap="square">
            <a:spAutoFit/>
          </a:bodyPr>
          <a:lstStyle/>
          <a:p>
            <a:pPr marR="67310" algn="just">
              <a:lnSpc>
                <a:spcPct val="150000"/>
              </a:lnSpc>
              <a:spcBef>
                <a:spcPts val="805"/>
              </a:spcBef>
              <a:buSzPts val="1200"/>
            </a:pPr>
            <a:r>
              <a:rPr lang="en-US" sz="1400" dirty="0">
                <a:solidFill>
                  <a:srgbClr val="222222"/>
                </a:solidFill>
                <a:latin typeface="Times New Roman" panose="02020603050405020304" pitchFamily="18" charset="0"/>
                <a:ea typeface="Times New Roman" panose="02020603050405020304" pitchFamily="18" charset="0"/>
              </a:rPr>
              <a:t>7. </a:t>
            </a:r>
            <a:r>
              <a:rPr lang="en-US" sz="1400" dirty="0" err="1">
                <a:solidFill>
                  <a:srgbClr val="222222"/>
                </a:solidFill>
                <a:latin typeface="Times New Roman" panose="02020603050405020304" pitchFamily="18" charset="0"/>
                <a:ea typeface="Times New Roman" panose="02020603050405020304" pitchFamily="18" charset="0"/>
              </a:rPr>
              <a:t>Saiz-Adalid</a:t>
            </a:r>
            <a:r>
              <a:rPr lang="en-US" sz="1400" dirty="0">
                <a:solidFill>
                  <a:srgbClr val="222222"/>
                </a:solidFill>
                <a:latin typeface="Times New Roman" panose="02020603050405020304" pitchFamily="18" charset="0"/>
                <a:ea typeface="Times New Roman" panose="02020603050405020304" pitchFamily="18" charset="0"/>
              </a:rPr>
              <a:t>, L. J., </a:t>
            </a:r>
            <a:r>
              <a:rPr lang="en-US" sz="1400" dirty="0" err="1">
                <a:solidFill>
                  <a:srgbClr val="222222"/>
                </a:solidFill>
                <a:latin typeface="Times New Roman" panose="02020603050405020304" pitchFamily="18" charset="0"/>
                <a:ea typeface="Times New Roman" panose="02020603050405020304" pitchFamily="18" charset="0"/>
              </a:rPr>
              <a:t>Reviriego</a:t>
            </a:r>
            <a:r>
              <a:rPr lang="en-US" sz="1400" dirty="0">
                <a:solidFill>
                  <a:srgbClr val="222222"/>
                </a:solidFill>
                <a:latin typeface="Times New Roman" panose="02020603050405020304" pitchFamily="18" charset="0"/>
                <a:ea typeface="Times New Roman" panose="02020603050405020304" pitchFamily="18" charset="0"/>
              </a:rPr>
              <a:t>, P., Gil, P., </a:t>
            </a:r>
            <a:r>
              <a:rPr lang="en-US" sz="1400" dirty="0" err="1">
                <a:solidFill>
                  <a:srgbClr val="222222"/>
                </a:solidFill>
                <a:latin typeface="Times New Roman" panose="02020603050405020304" pitchFamily="18" charset="0"/>
                <a:ea typeface="Times New Roman" panose="02020603050405020304" pitchFamily="18" charset="0"/>
              </a:rPr>
              <a:t>Pontarelli</a:t>
            </a:r>
            <a:r>
              <a:rPr lang="en-US" sz="1400" dirty="0">
                <a:solidFill>
                  <a:srgbClr val="222222"/>
                </a:solidFill>
                <a:latin typeface="Times New Roman" panose="02020603050405020304" pitchFamily="18" charset="0"/>
                <a:ea typeface="Times New Roman" panose="02020603050405020304" pitchFamily="18" charset="0"/>
              </a:rPr>
              <a:t>, S., &amp; Maestro, J. A. (2014). MCU tolerance in SRAMs through low-redundancy triple adjacent error correction. </a:t>
            </a:r>
            <a:r>
              <a:rPr lang="en-US" sz="1400" i="1" dirty="0">
                <a:solidFill>
                  <a:srgbClr val="222222"/>
                </a:solidFill>
                <a:latin typeface="Times New Roman" panose="02020603050405020304" pitchFamily="18" charset="0"/>
                <a:ea typeface="Times New Roman" panose="02020603050405020304" pitchFamily="18" charset="0"/>
              </a:rPr>
              <a:t>IEEE Transactions on Very Large Scale Integration (VLSI) Systems</a:t>
            </a:r>
            <a:r>
              <a:rPr lang="en-US" sz="1400" dirty="0">
                <a:solidFill>
                  <a:srgbClr val="222222"/>
                </a:solidFill>
                <a:latin typeface="Times New Roman" panose="02020603050405020304" pitchFamily="18" charset="0"/>
                <a:ea typeface="Times New Roman" panose="02020603050405020304" pitchFamily="18" charset="0"/>
              </a:rPr>
              <a:t>, </a:t>
            </a:r>
            <a:r>
              <a:rPr lang="en-US" sz="1400" i="1" dirty="0">
                <a:solidFill>
                  <a:srgbClr val="222222"/>
                </a:solidFill>
                <a:latin typeface="Times New Roman" panose="02020603050405020304" pitchFamily="18" charset="0"/>
                <a:ea typeface="Times New Roman" panose="02020603050405020304" pitchFamily="18" charset="0"/>
              </a:rPr>
              <a:t>23</a:t>
            </a:r>
            <a:r>
              <a:rPr lang="en-US" sz="1400" dirty="0">
                <a:solidFill>
                  <a:srgbClr val="222222"/>
                </a:solidFill>
                <a:latin typeface="Times New Roman" panose="02020603050405020304" pitchFamily="18" charset="0"/>
                <a:ea typeface="Times New Roman" panose="02020603050405020304" pitchFamily="18" charset="0"/>
              </a:rPr>
              <a:t>(10), 2332-2336.</a:t>
            </a:r>
            <a:endParaRPr lang="en-IN" sz="1400" dirty="0">
              <a:latin typeface="Times New Roman" panose="02020603050405020304" pitchFamily="18" charset="0"/>
              <a:ea typeface="Times New Roman" panose="02020603050405020304" pitchFamily="18" charset="0"/>
            </a:endParaRPr>
          </a:p>
          <a:p>
            <a:pPr marR="67310" algn="just">
              <a:lnSpc>
                <a:spcPct val="150000"/>
              </a:lnSpc>
              <a:spcBef>
                <a:spcPts val="805"/>
              </a:spcBef>
              <a:buSzPts val="1200"/>
            </a:pPr>
            <a:r>
              <a:rPr lang="en-US" sz="1400" dirty="0">
                <a:solidFill>
                  <a:srgbClr val="222222"/>
                </a:solidFill>
                <a:latin typeface="Times New Roman" panose="02020603050405020304" pitchFamily="18" charset="0"/>
                <a:ea typeface="Times New Roman" panose="02020603050405020304" pitchFamily="18" charset="0"/>
              </a:rPr>
              <a:t>8. Kumar, C. I., &amp; </a:t>
            </a:r>
            <a:r>
              <a:rPr lang="en-US" sz="1400" dirty="0" err="1">
                <a:solidFill>
                  <a:srgbClr val="222222"/>
                </a:solidFill>
                <a:latin typeface="Times New Roman" panose="02020603050405020304" pitchFamily="18" charset="0"/>
                <a:ea typeface="Times New Roman" panose="02020603050405020304" pitchFamily="18" charset="0"/>
              </a:rPr>
              <a:t>Anand</a:t>
            </a:r>
            <a:r>
              <a:rPr lang="en-US" sz="1400" dirty="0">
                <a:solidFill>
                  <a:srgbClr val="222222"/>
                </a:solidFill>
                <a:latin typeface="Times New Roman" panose="02020603050405020304" pitchFamily="18" charset="0"/>
                <a:ea typeface="Times New Roman" panose="02020603050405020304" pitchFamily="18" charset="0"/>
              </a:rPr>
              <a:t>, B. (2018). Design of highly reliable energy-efficient SEU tolerant 10T SRAM cell. </a:t>
            </a:r>
            <a:r>
              <a:rPr lang="en-US" sz="1400" i="1" dirty="0">
                <a:solidFill>
                  <a:srgbClr val="222222"/>
                </a:solidFill>
                <a:latin typeface="Times New Roman" panose="02020603050405020304" pitchFamily="18" charset="0"/>
                <a:ea typeface="Times New Roman" panose="02020603050405020304" pitchFamily="18" charset="0"/>
              </a:rPr>
              <a:t>Electronics Letters</a:t>
            </a:r>
            <a:r>
              <a:rPr lang="en-US" sz="1400" dirty="0">
                <a:solidFill>
                  <a:srgbClr val="222222"/>
                </a:solidFill>
                <a:latin typeface="Times New Roman" panose="02020603050405020304" pitchFamily="18" charset="0"/>
                <a:ea typeface="Times New Roman" panose="02020603050405020304" pitchFamily="18" charset="0"/>
              </a:rPr>
              <a:t>, </a:t>
            </a:r>
            <a:r>
              <a:rPr lang="en-US" sz="1400" i="1" dirty="0">
                <a:solidFill>
                  <a:srgbClr val="222222"/>
                </a:solidFill>
                <a:latin typeface="Times New Roman" panose="02020603050405020304" pitchFamily="18" charset="0"/>
                <a:ea typeface="Times New Roman" panose="02020603050405020304" pitchFamily="18" charset="0"/>
              </a:rPr>
              <a:t>54</a:t>
            </a:r>
            <a:r>
              <a:rPr lang="en-US" sz="1400" dirty="0">
                <a:solidFill>
                  <a:srgbClr val="222222"/>
                </a:solidFill>
                <a:latin typeface="Times New Roman" panose="02020603050405020304" pitchFamily="18" charset="0"/>
                <a:ea typeface="Times New Roman" panose="02020603050405020304" pitchFamily="18" charset="0"/>
              </a:rPr>
              <a:t>(25), 1423-1424.</a:t>
            </a:r>
            <a:endParaRPr lang="en-IN" sz="1400" dirty="0">
              <a:latin typeface="Times New Roman" panose="02020603050405020304" pitchFamily="18" charset="0"/>
              <a:ea typeface="Times New Roman" panose="02020603050405020304" pitchFamily="18" charset="0"/>
            </a:endParaRPr>
          </a:p>
          <a:p>
            <a:pPr marR="67310" algn="just">
              <a:lnSpc>
                <a:spcPct val="150000"/>
              </a:lnSpc>
              <a:spcBef>
                <a:spcPts val="805"/>
              </a:spcBef>
              <a:buSzPts val="1200"/>
            </a:pPr>
            <a:r>
              <a:rPr lang="en-US" sz="1400" dirty="0">
                <a:latin typeface="Times New Roman" panose="02020603050405020304" pitchFamily="18" charset="0"/>
                <a:ea typeface="Times New Roman" panose="02020603050405020304" pitchFamily="18" charset="0"/>
              </a:rPr>
              <a:t>9. L. D. T. Dang, D. </a:t>
            </a:r>
            <a:r>
              <a:rPr lang="en-US" sz="1400" dirty="0" err="1">
                <a:latin typeface="Times New Roman" panose="02020603050405020304" pitchFamily="18" charset="0"/>
                <a:ea typeface="Times New Roman" panose="02020603050405020304" pitchFamily="18" charset="0"/>
              </a:rPr>
              <a:t>Seo</a:t>
            </a:r>
            <a:r>
              <a:rPr lang="en-US" sz="1400" dirty="0">
                <a:latin typeface="Times New Roman" panose="02020603050405020304" pitchFamily="18" charset="0"/>
                <a:ea typeface="Times New Roman" panose="02020603050405020304" pitchFamily="18" charset="0"/>
              </a:rPr>
              <a:t>, J.-W. Han, J. Kim, and I.-J. Chang, (2018) “A 28 </a:t>
            </a:r>
            <a:r>
              <a:rPr lang="en-US" sz="1400" dirty="0" err="1">
                <a:latin typeface="Times New Roman" panose="02020603050405020304" pitchFamily="18" charset="0"/>
                <a:ea typeface="Times New Roman" panose="02020603050405020304" pitchFamily="18" charset="0"/>
              </a:rPr>
              <a:t>mn</a:t>
            </a:r>
            <a:r>
              <a:rPr lang="en-US" sz="1400" dirty="0">
                <a:latin typeface="Times New Roman" panose="02020603050405020304" pitchFamily="18" charset="0"/>
                <a:ea typeface="Times New Roman" panose="02020603050405020304" pitchFamily="18" charset="0"/>
              </a:rPr>
              <a:t> FD-SOI 4KB radiation-hardened 12T SRAM macro with 0.6 </a:t>
            </a:r>
            <a:r>
              <a:rPr lang="en-US" sz="1400" dirty="0">
                <a:latin typeface="Times New Roman" panose="02020603050405020304" pitchFamily="18" charset="0"/>
                <a:ea typeface="MTSYN"/>
              </a:rPr>
              <a:t>_ </a:t>
            </a:r>
            <a:r>
              <a:rPr lang="en-US" sz="1400" dirty="0">
                <a:latin typeface="Times New Roman" panose="02020603050405020304" pitchFamily="18" charset="0"/>
                <a:ea typeface="Times New Roman" panose="02020603050405020304" pitchFamily="18" charset="0"/>
              </a:rPr>
              <a:t>1V wide dynamic voltage scaling for space applications,” in </a:t>
            </a:r>
            <a:r>
              <a:rPr lang="en-US" sz="1400" i="1" dirty="0">
                <a:latin typeface="Times New Roman" panose="02020603050405020304" pitchFamily="18" charset="0"/>
                <a:ea typeface="Times New Roman" panose="02020603050405020304" pitchFamily="18" charset="0"/>
              </a:rPr>
              <a:t>Proc. IEEE </a:t>
            </a:r>
            <a:r>
              <a:rPr lang="en-US" sz="1400" i="1" dirty="0" err="1">
                <a:latin typeface="Times New Roman" panose="02020603050405020304" pitchFamily="18" charset="0"/>
                <a:ea typeface="Times New Roman" panose="02020603050405020304" pitchFamily="18" charset="0"/>
              </a:rPr>
              <a:t>Asianc</a:t>
            </a:r>
            <a:r>
              <a:rPr lang="en-US" sz="1400" i="1" dirty="0">
                <a:latin typeface="Times New Roman" panose="02020603050405020304" pitchFamily="18" charset="0"/>
                <a:ea typeface="Times New Roman" panose="02020603050405020304" pitchFamily="18" charset="0"/>
              </a:rPr>
              <a:t> Solid-State Circuits Conf. (A-SSCC)</a:t>
            </a:r>
            <a:r>
              <a:rPr lang="en-US" sz="1400" dirty="0">
                <a:latin typeface="Times New Roman" panose="02020603050405020304" pitchFamily="18" charset="0"/>
                <a:ea typeface="Times New Roman" panose="02020603050405020304" pitchFamily="18" charset="0"/>
              </a:rPr>
              <a:t>, pp. 133–134.</a:t>
            </a:r>
            <a:endParaRPr lang="en-IN" sz="1400" dirty="0">
              <a:latin typeface="Times New Roman" panose="02020603050405020304" pitchFamily="18" charset="0"/>
              <a:ea typeface="Times New Roman" panose="02020603050405020304" pitchFamily="18" charset="0"/>
            </a:endParaRPr>
          </a:p>
          <a:p>
            <a:pPr marR="67310" algn="just">
              <a:lnSpc>
                <a:spcPct val="150000"/>
              </a:lnSpc>
              <a:spcBef>
                <a:spcPts val="805"/>
              </a:spcBef>
              <a:buSzPts val="1200"/>
            </a:pPr>
            <a:r>
              <a:rPr lang="en-US" sz="1400" dirty="0">
                <a:solidFill>
                  <a:srgbClr val="222222"/>
                </a:solidFill>
                <a:latin typeface="Times New Roman" panose="02020603050405020304" pitchFamily="18" charset="0"/>
                <a:ea typeface="Times New Roman" panose="02020603050405020304" pitchFamily="18" charset="0"/>
              </a:rPr>
              <a:t>10. Lin, S., Kim, Y. B., Lombardi, F., &amp; Lee, Y. J. (2008, November). A new SRAM cell design using CNTFETs. In </a:t>
            </a:r>
            <a:r>
              <a:rPr lang="en-US" sz="1400" i="1" dirty="0">
                <a:solidFill>
                  <a:srgbClr val="222222"/>
                </a:solidFill>
                <a:latin typeface="Times New Roman" panose="02020603050405020304" pitchFamily="18" charset="0"/>
                <a:ea typeface="Times New Roman" panose="02020603050405020304" pitchFamily="18" charset="0"/>
              </a:rPr>
              <a:t>2008 International </a:t>
            </a:r>
            <a:r>
              <a:rPr lang="en-US" sz="1400" i="1" dirty="0" err="1">
                <a:solidFill>
                  <a:srgbClr val="222222"/>
                </a:solidFill>
                <a:latin typeface="Times New Roman" panose="02020603050405020304" pitchFamily="18" charset="0"/>
                <a:ea typeface="Times New Roman" panose="02020603050405020304" pitchFamily="18" charset="0"/>
              </a:rPr>
              <a:t>SoC</a:t>
            </a:r>
            <a:r>
              <a:rPr lang="en-US" sz="1400" i="1" dirty="0">
                <a:solidFill>
                  <a:srgbClr val="222222"/>
                </a:solidFill>
                <a:latin typeface="Times New Roman" panose="02020603050405020304" pitchFamily="18" charset="0"/>
                <a:ea typeface="Times New Roman" panose="02020603050405020304" pitchFamily="18" charset="0"/>
              </a:rPr>
              <a:t> Design Conference</a:t>
            </a:r>
            <a:r>
              <a:rPr lang="en-US" sz="1400" dirty="0">
                <a:solidFill>
                  <a:srgbClr val="222222"/>
                </a:solidFill>
                <a:latin typeface="Times New Roman" panose="02020603050405020304" pitchFamily="18" charset="0"/>
                <a:ea typeface="Times New Roman" panose="02020603050405020304" pitchFamily="18" charset="0"/>
              </a:rPr>
              <a:t> (Vol. 1, pp. I-168). IEEE.</a:t>
            </a:r>
            <a:endParaRPr lang="en-IN" sz="1400" dirty="0">
              <a:latin typeface="Times New Roman" panose="02020603050405020304" pitchFamily="18" charset="0"/>
              <a:ea typeface="Times New Roman" panose="02020603050405020304" pitchFamily="18" charset="0"/>
            </a:endParaRPr>
          </a:p>
          <a:p>
            <a:pPr marR="67310" algn="just">
              <a:lnSpc>
                <a:spcPct val="150000"/>
              </a:lnSpc>
              <a:spcBef>
                <a:spcPts val="805"/>
              </a:spcBef>
              <a:buSzPts val="1200"/>
            </a:pPr>
            <a:r>
              <a:rPr lang="en-US" sz="1400" dirty="0">
                <a:latin typeface="Times New Roman" panose="02020603050405020304" pitchFamily="18" charset="0"/>
                <a:ea typeface="Times New Roman" panose="02020603050405020304" pitchFamily="18" charset="0"/>
              </a:rPr>
              <a:t>11. N. N. </a:t>
            </a:r>
            <a:r>
              <a:rPr lang="en-US" sz="1400" dirty="0" err="1">
                <a:latin typeface="Times New Roman" panose="02020603050405020304" pitchFamily="18" charset="0"/>
                <a:ea typeface="Times New Roman" panose="02020603050405020304" pitchFamily="18" charset="0"/>
              </a:rPr>
              <a:t>Mahatme</a:t>
            </a:r>
            <a:r>
              <a:rPr lang="en-US" sz="1400" i="1" dirty="0" err="1">
                <a:latin typeface="Times New Roman" panose="02020603050405020304" pitchFamily="18" charset="0"/>
                <a:ea typeface="Times New Roman" panose="02020603050405020304" pitchFamily="18" charset="0"/>
              </a:rPr>
              <a:t>et</a:t>
            </a:r>
            <a:r>
              <a:rPr lang="en-US" sz="1400" i="1" dirty="0">
                <a:latin typeface="Times New Roman" panose="02020603050405020304" pitchFamily="18" charset="0"/>
                <a:ea typeface="Times New Roman" panose="02020603050405020304" pitchFamily="18" charset="0"/>
              </a:rPr>
              <a:t> al.</a:t>
            </a:r>
            <a:r>
              <a:rPr lang="en-US" sz="1400" dirty="0">
                <a:latin typeface="Times New Roman" panose="02020603050405020304" pitchFamily="18" charset="0"/>
                <a:ea typeface="Times New Roman" panose="02020603050405020304" pitchFamily="18" charset="0"/>
              </a:rPr>
              <a:t>, (2013) “Impact of supply voltage and frequency on the soft error rate of logic circuits,” </a:t>
            </a:r>
            <a:r>
              <a:rPr lang="en-US" sz="1400" i="1" dirty="0">
                <a:latin typeface="Times New Roman" panose="02020603050405020304" pitchFamily="18" charset="0"/>
                <a:ea typeface="Times New Roman" panose="02020603050405020304" pitchFamily="18" charset="0"/>
              </a:rPr>
              <a:t>IEEE Trans. </a:t>
            </a:r>
            <a:r>
              <a:rPr lang="en-US" sz="1400" i="1" dirty="0" err="1">
                <a:latin typeface="Times New Roman" panose="02020603050405020304" pitchFamily="18" charset="0"/>
                <a:ea typeface="Times New Roman" panose="02020603050405020304" pitchFamily="18" charset="0"/>
              </a:rPr>
              <a:t>Nucl</a:t>
            </a:r>
            <a:r>
              <a:rPr lang="en-US" sz="1400" i="1" dirty="0">
                <a:latin typeface="Times New Roman" panose="02020603050405020304" pitchFamily="18" charset="0"/>
                <a:ea typeface="Times New Roman" panose="02020603050405020304" pitchFamily="18" charset="0"/>
              </a:rPr>
              <a:t>. Sci.</a:t>
            </a:r>
            <a:r>
              <a:rPr lang="en-US" sz="1400" dirty="0">
                <a:latin typeface="Times New Roman" panose="02020603050405020304" pitchFamily="18" charset="0"/>
                <a:ea typeface="Times New Roman" panose="02020603050405020304" pitchFamily="18" charset="0"/>
              </a:rPr>
              <a:t>, vol. 60, no. 6, pp. 4200–4206. </a:t>
            </a:r>
            <a:endParaRPr lang="en-IN" sz="1400" dirty="0">
              <a:latin typeface="Times New Roman" panose="02020603050405020304" pitchFamily="18" charset="0"/>
              <a:ea typeface="Times New Roman" panose="02020603050405020304" pitchFamily="18" charset="0"/>
            </a:endParaRPr>
          </a:p>
          <a:p>
            <a:pPr marR="67310" algn="just">
              <a:lnSpc>
                <a:spcPct val="150000"/>
              </a:lnSpc>
              <a:spcBef>
                <a:spcPts val="805"/>
              </a:spcBef>
              <a:buSzPts val="1200"/>
            </a:pPr>
            <a:r>
              <a:rPr lang="en-US" sz="1400" dirty="0">
                <a:latin typeface="Times New Roman" panose="02020603050405020304" pitchFamily="18" charset="0"/>
                <a:ea typeface="Times New Roman" panose="02020603050405020304" pitchFamily="18" charset="0"/>
              </a:rPr>
              <a:t>12. </a:t>
            </a:r>
            <a:r>
              <a:rPr lang="en-US" sz="1400" dirty="0" err="1">
                <a:latin typeface="Times New Roman" panose="02020603050405020304" pitchFamily="18" charset="0"/>
                <a:ea typeface="Times New Roman" panose="02020603050405020304" pitchFamily="18" charset="0"/>
              </a:rPr>
              <a:t>Guo</a:t>
            </a:r>
            <a:r>
              <a:rPr lang="en-US" sz="1400" dirty="0">
                <a:latin typeface="Times New Roman" panose="02020603050405020304" pitchFamily="18" charset="0"/>
                <a:ea typeface="Times New Roman" panose="02020603050405020304" pitchFamily="18" charset="0"/>
              </a:rPr>
              <a:t>, J., Zhu, L., Sun, Y., et al.: (2018)  ‘Design of area-efficient and highly reliable RHBD 10T memory cell for aerospace applications’, Trans. Very Large Scale </a:t>
            </a:r>
            <a:r>
              <a:rPr lang="en-US" sz="1400" dirty="0" err="1">
                <a:latin typeface="Times New Roman" panose="02020603050405020304" pitchFamily="18" charset="0"/>
                <a:ea typeface="Times New Roman" panose="02020603050405020304" pitchFamily="18" charset="0"/>
              </a:rPr>
              <a:t>Integr</a:t>
            </a:r>
            <a:r>
              <a:rPr lang="en-US" sz="1400" dirty="0">
                <a:latin typeface="Times New Roman" panose="02020603050405020304" pitchFamily="18" charset="0"/>
                <a:ea typeface="Times New Roman" panose="02020603050405020304" pitchFamily="18" charset="0"/>
              </a:rPr>
              <a:t>. Syst.,26, (5), pp. 991–994</a:t>
            </a:r>
          </a:p>
          <a:p>
            <a:pPr marR="67310" algn="just">
              <a:lnSpc>
                <a:spcPct val="150000"/>
              </a:lnSpc>
              <a:spcBef>
                <a:spcPts val="805"/>
              </a:spcBef>
              <a:buSzPts val="1200"/>
            </a:pPr>
            <a:r>
              <a:rPr lang="en-US" sz="1400" dirty="0">
                <a:latin typeface="Times New Roman" panose="02020603050405020304" pitchFamily="18" charset="0"/>
                <a:ea typeface="Times New Roman" panose="02020603050405020304" pitchFamily="18" charset="0"/>
              </a:rPr>
              <a:t>13. Qi, C., Xiao, L., Wang, T., et al. (2016) ‘A highly reliable memory </a:t>
            </a:r>
            <a:r>
              <a:rPr lang="en-US" sz="1400" dirty="0" err="1">
                <a:latin typeface="Times New Roman" panose="02020603050405020304" pitchFamily="18" charset="0"/>
                <a:ea typeface="Times New Roman" panose="02020603050405020304" pitchFamily="18" charset="0"/>
              </a:rPr>
              <a:t>celldesign</a:t>
            </a:r>
            <a:r>
              <a:rPr lang="en-US" sz="1400" dirty="0">
                <a:latin typeface="Times New Roman" panose="02020603050405020304" pitchFamily="18" charset="0"/>
                <a:ea typeface="Times New Roman" panose="02020603050405020304" pitchFamily="18" charset="0"/>
              </a:rPr>
              <a:t> combined with layout-level approach to tolerant single-</a:t>
            </a:r>
            <a:r>
              <a:rPr lang="en-US" sz="1400" dirty="0" err="1">
                <a:latin typeface="Times New Roman" panose="02020603050405020304" pitchFamily="18" charset="0"/>
                <a:ea typeface="Times New Roman" panose="02020603050405020304" pitchFamily="18" charset="0"/>
              </a:rPr>
              <a:t>eventupsets</a:t>
            </a:r>
            <a:r>
              <a:rPr lang="en-US" sz="1400" dirty="0">
                <a:latin typeface="Times New Roman" panose="02020603050405020304" pitchFamily="18" charset="0"/>
                <a:ea typeface="Times New Roman" panose="02020603050405020304" pitchFamily="18" charset="0"/>
              </a:rPr>
              <a:t>’, Trans. Device Mater. Reliable., 16, (3), pp. 388–395.</a:t>
            </a:r>
            <a:r>
              <a:rPr lang="en-US" sz="1400" b="1" dirty="0">
                <a:latin typeface="Times New Roman" panose="02020603050405020304" pitchFamily="18" charset="0"/>
                <a:ea typeface="Times New Roman" panose="02020603050405020304" pitchFamily="18" charset="0"/>
              </a:rPr>
              <a:t> </a:t>
            </a:r>
            <a:endParaRPr lang="en-IN" sz="1400" dirty="0">
              <a:latin typeface="Times New Roman" panose="02020603050405020304" pitchFamily="18" charset="0"/>
              <a:ea typeface="Times New Roman" panose="02020603050405020304" pitchFamily="18" charset="0"/>
            </a:endParaRPr>
          </a:p>
          <a:p>
            <a:pPr marR="67310" algn="just">
              <a:lnSpc>
                <a:spcPct val="150000"/>
              </a:lnSpc>
              <a:spcBef>
                <a:spcPts val="805"/>
              </a:spcBef>
              <a:buSzPts val="1200"/>
            </a:pPr>
            <a:r>
              <a:rPr lang="en-US" sz="1400" dirty="0">
                <a:latin typeface="Times New Roman" panose="02020603050405020304" pitchFamily="18" charset="0"/>
                <a:ea typeface="Times New Roman" panose="02020603050405020304" pitchFamily="18" charset="0"/>
              </a:rPr>
              <a:t>14.A. Yan, Z. Huang, M. Yi, X. Xu, Y. Ouyang, and H. Liang,  (2017)“</a:t>
            </a:r>
            <a:r>
              <a:rPr lang="en-US" sz="1400" dirty="0" err="1">
                <a:latin typeface="Times New Roman" panose="02020603050405020304" pitchFamily="18" charset="0"/>
                <a:ea typeface="Times New Roman" panose="02020603050405020304" pitchFamily="18" charset="0"/>
              </a:rPr>
              <a:t>Doublenode</a:t>
            </a:r>
            <a:r>
              <a:rPr lang="en-US" sz="1400" dirty="0">
                <a:latin typeface="Times New Roman" panose="02020603050405020304" pitchFamily="18" charset="0"/>
                <a:ea typeface="Times New Roman" panose="02020603050405020304" pitchFamily="18" charset="0"/>
              </a:rPr>
              <a:t>-upset-resilient latch design for nanoscale CMOS </a:t>
            </a:r>
            <a:r>
              <a:rPr lang="en-US" sz="1400" dirty="0" err="1">
                <a:latin typeface="Times New Roman" panose="02020603050405020304" pitchFamily="18" charset="0"/>
                <a:ea typeface="Times New Roman" panose="02020603050405020304" pitchFamily="18" charset="0"/>
              </a:rPr>
              <a:t>technology,”</a:t>
            </a:r>
            <a:r>
              <a:rPr lang="en-US" sz="1400" i="1" dirty="0" err="1">
                <a:latin typeface="Times New Roman" panose="02020603050405020304" pitchFamily="18" charset="0"/>
                <a:ea typeface="Times New Roman" panose="02020603050405020304" pitchFamily="18" charset="0"/>
              </a:rPr>
              <a:t>IEEE</a:t>
            </a:r>
            <a:r>
              <a:rPr lang="en-US" sz="1400" i="1" dirty="0">
                <a:latin typeface="Times New Roman" panose="02020603050405020304" pitchFamily="18" charset="0"/>
                <a:ea typeface="Times New Roman" panose="02020603050405020304" pitchFamily="18" charset="0"/>
              </a:rPr>
              <a:t> Trans. Very Large Scale </a:t>
            </a:r>
            <a:r>
              <a:rPr lang="en-US" sz="1400" i="1" dirty="0" err="1">
                <a:latin typeface="Times New Roman" panose="02020603050405020304" pitchFamily="18" charset="0"/>
                <a:ea typeface="Times New Roman" panose="02020603050405020304" pitchFamily="18" charset="0"/>
              </a:rPr>
              <a:t>Integr</a:t>
            </a:r>
            <a:r>
              <a:rPr lang="en-US" sz="1400" i="1" dirty="0">
                <a:latin typeface="Times New Roman" panose="02020603050405020304" pitchFamily="18" charset="0"/>
                <a:ea typeface="Times New Roman" panose="02020603050405020304" pitchFamily="18" charset="0"/>
              </a:rPr>
              <a:t>. (VLSI) Syst.</a:t>
            </a:r>
            <a:r>
              <a:rPr lang="en-US" sz="1400" dirty="0">
                <a:latin typeface="Times New Roman" panose="02020603050405020304" pitchFamily="18" charset="0"/>
                <a:ea typeface="Times New Roman" panose="02020603050405020304" pitchFamily="18" charset="0"/>
              </a:rPr>
              <a:t>, vol. 25, no. 6,pp. 1978–1982.</a:t>
            </a:r>
            <a:endParaRPr lang="en-IN" sz="1400" dirty="0">
              <a:latin typeface="Times New Roman" panose="02020603050405020304" pitchFamily="18" charset="0"/>
              <a:ea typeface="Times New Roman" panose="02020603050405020304" pitchFamily="18" charset="0"/>
            </a:endParaRPr>
          </a:p>
          <a:p>
            <a:endParaRPr lang="en-IN" sz="1200" dirty="0"/>
          </a:p>
        </p:txBody>
      </p:sp>
    </p:spTree>
    <p:extLst>
      <p:ext uri="{BB962C8B-B14F-4D97-AF65-F5344CB8AC3E}">
        <p14:creationId xmlns:p14="http://schemas.microsoft.com/office/powerpoint/2010/main" val="39304771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 xmlns:a16="http://schemas.microsoft.com/office/drawing/2014/main" id="{E4754214-DB2C-4CE6-A4A0-E186F1B37A56}"/>
              </a:ext>
            </a:extLst>
          </p:cNvPr>
          <p:cNvSpPr>
            <a:spLocks noGrp="1"/>
          </p:cNvSpPr>
          <p:nvPr>
            <p:ph type="dt" sz="half" idx="10"/>
          </p:nvPr>
        </p:nvSpPr>
        <p:spPr/>
        <p:txBody>
          <a:bodyPr/>
          <a:lstStyle/>
          <a:p>
            <a:r>
              <a:rPr lang="en-US" dirty="0"/>
              <a:t> </a:t>
            </a:r>
            <a:endParaRPr lang="en-IN" dirty="0"/>
          </a:p>
        </p:txBody>
      </p:sp>
      <p:sp>
        <p:nvSpPr>
          <p:cNvPr id="5" name="Footer Placeholder 4">
            <a:extLst>
              <a:ext uri="{FF2B5EF4-FFF2-40B4-BE49-F238E27FC236}">
                <a16:creationId xmlns="" xmlns:a16="http://schemas.microsoft.com/office/drawing/2014/main" id="{EEC45C78-E691-4EDA-9D5B-D3BA40E750E1}"/>
              </a:ext>
            </a:extLst>
          </p:cNvPr>
          <p:cNvSpPr>
            <a:spLocks noGrp="1"/>
          </p:cNvSpPr>
          <p:nvPr>
            <p:ph type="ftr" sz="quarter" idx="11"/>
          </p:nvPr>
        </p:nvSpPr>
        <p:spPr/>
        <p:txBody>
          <a:bodyPr/>
          <a:lstStyle/>
          <a:p>
            <a:r>
              <a:rPr lang="en-IN" dirty="0"/>
              <a:t> </a:t>
            </a:r>
          </a:p>
        </p:txBody>
      </p:sp>
      <p:sp>
        <p:nvSpPr>
          <p:cNvPr id="3" name="Slide Number Placeholder 2">
            <a:extLst>
              <a:ext uri="{FF2B5EF4-FFF2-40B4-BE49-F238E27FC236}">
                <a16:creationId xmlns="" xmlns:a16="http://schemas.microsoft.com/office/drawing/2014/main" id="{D9F91A99-A8B3-418B-8EF2-A41CA3F39BC1}"/>
              </a:ext>
            </a:extLst>
          </p:cNvPr>
          <p:cNvSpPr>
            <a:spLocks noGrp="1"/>
          </p:cNvSpPr>
          <p:nvPr>
            <p:ph type="sldNum" sz="quarter" idx="12"/>
          </p:nvPr>
        </p:nvSpPr>
        <p:spPr/>
        <p:txBody>
          <a:bodyPr/>
          <a:lstStyle/>
          <a:p>
            <a:fld id="{ACE2F108-0A8D-40BD-9A9C-464734DAE4AE}" type="slidenum">
              <a:rPr lang="en-IN" smtClean="0"/>
              <a:t>19</a:t>
            </a:fld>
            <a:endParaRPr lang="en-IN" dirty="0"/>
          </a:p>
        </p:txBody>
      </p:sp>
      <p:sp>
        <p:nvSpPr>
          <p:cNvPr id="2" name="Rectangle 1">
            <a:extLst>
              <a:ext uri="{FF2B5EF4-FFF2-40B4-BE49-F238E27FC236}">
                <a16:creationId xmlns="" xmlns:a16="http://schemas.microsoft.com/office/drawing/2014/main" id="{53A10C1E-6C7F-48D3-B1C2-239F5461D0AE}"/>
              </a:ext>
            </a:extLst>
          </p:cNvPr>
          <p:cNvSpPr/>
          <p:nvPr/>
        </p:nvSpPr>
        <p:spPr>
          <a:xfrm>
            <a:off x="4317941" y="2955222"/>
            <a:ext cx="10343540" cy="584775"/>
          </a:xfrm>
          <a:prstGeom prst="rect">
            <a:avLst/>
          </a:prstGeom>
        </p:spPr>
        <p:txBody>
          <a:bodyPr wrap="square">
            <a:spAutoFit/>
          </a:bodyPr>
          <a:lstStyle/>
          <a:p>
            <a:pPr>
              <a:spcAft>
                <a:spcPts val="1036"/>
              </a:spcAft>
            </a:pPr>
            <a:r>
              <a:rPr lang="en-US" sz="3200" b="1" i="1" u="sng"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28519854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1987</TotalTime>
  <Words>1509</Words>
  <Application>Microsoft Office PowerPoint</Application>
  <PresentationFormat>Widescreen</PresentationFormat>
  <Paragraphs>167</Paragraphs>
  <Slides>19</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Arial</vt:lpstr>
      <vt:lpstr>Calibri</vt:lpstr>
      <vt:lpstr>Cambria</vt:lpstr>
      <vt:lpstr>Inter Fallback</vt:lpstr>
      <vt:lpstr>MTSYN</vt:lpstr>
      <vt:lpstr>Symbol</vt:lpstr>
      <vt:lpstr>Times New Roman</vt:lpstr>
      <vt:lpstr>Trebuchet MS</vt:lpstr>
      <vt:lpstr>Wingdings 3</vt:lpstr>
      <vt:lpstr>Facet</vt:lpstr>
      <vt:lpstr>                                  IoT-Based Air Pollution Monitoring System for Real-Time Environmental Surveillance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Modules Used – Sensors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 based Enhanced Real-time Air Quality Index Prediction and Forecasting using  Machine Learning Techniques and Sensor Fusion  with Ground Station Data</dc:title>
  <dc:creator>JOSHI KUMAR VISWANADHAPALLI</dc:creator>
  <cp:lastModifiedBy>Microsoft account</cp:lastModifiedBy>
  <cp:revision>121</cp:revision>
  <dcterms:created xsi:type="dcterms:W3CDTF">2020-05-24T15:51:07Z</dcterms:created>
  <dcterms:modified xsi:type="dcterms:W3CDTF">2026-06-23T09:37:09Z</dcterms:modified>
</cp:coreProperties>
</file>